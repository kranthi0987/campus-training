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2"/>
  </p:sldMasterIdLst>
  <p:notesMasterIdLst>
    <p:notesMasterId r:id="rId52"/>
  </p:notesMasterIdLst>
  <p:handoutMasterIdLst>
    <p:handoutMasterId r:id="rId53"/>
  </p:handoutMasterIdLst>
  <p:sldIdLst>
    <p:sldId id="256" r:id="rId13"/>
    <p:sldId id="2147481670" r:id="rId14"/>
    <p:sldId id="2147482451" r:id="rId15"/>
    <p:sldId id="2147482470" r:id="rId16"/>
    <p:sldId id="2147482450" r:id="rId17"/>
    <p:sldId id="2147482463" r:id="rId18"/>
    <p:sldId id="2147482457" r:id="rId19"/>
    <p:sldId id="2147482469" r:id="rId20"/>
    <p:sldId id="2147482467" r:id="rId21"/>
    <p:sldId id="2147482471" r:id="rId22"/>
    <p:sldId id="2147482465" r:id="rId23"/>
    <p:sldId id="2147482464" r:id="rId24"/>
    <p:sldId id="2147482472" r:id="rId25"/>
    <p:sldId id="293" r:id="rId26"/>
    <p:sldId id="2147482473" r:id="rId27"/>
    <p:sldId id="2147482480" r:id="rId28"/>
    <p:sldId id="2147482474" r:id="rId29"/>
    <p:sldId id="2147482475" r:id="rId30"/>
    <p:sldId id="2147482476" r:id="rId31"/>
    <p:sldId id="2147482477" r:id="rId32"/>
    <p:sldId id="2147482478" r:id="rId33"/>
    <p:sldId id="2147482479" r:id="rId34"/>
    <p:sldId id="290" r:id="rId35"/>
    <p:sldId id="291" r:id="rId36"/>
    <p:sldId id="296" r:id="rId37"/>
    <p:sldId id="297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26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viewProps" Target="view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customXml" Target="../customXml/item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9" Type="http://schemas.openxmlformats.org/officeDocument/2006/relationships/slide" Target="slides/slide7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slide" Target="slides/slide39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03/09/2026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6CFAD1-D197-4A88-B173-A6412E995E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2F52-14E2-45D5-A249-78CC2A66BD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EDCFBE-27A6-4833-8A02-6F090B5FDABE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8B06C-D1C0-4719-87F3-6E1B46C516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8A4D158C-A6AB-44D9-9E3E-40314B363B1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8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8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30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238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4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963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F6A6-FD17-8F4C-7044-ABFEEA21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1703A-7F34-0354-48EF-A894969F4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9356-B0D7-2C31-86F2-9D8D1C672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5975D-6B64-ED21-F0EC-3AE161FA6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2260F-4373-E5F5-0D82-6B3B07452A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3793B49-0AAD-38A9-92B4-DC3E084F87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AEFF9A-CB40-3348-9E8F-318B43070F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883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DB33-8A48-BE42-4C50-D29DAA2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098F3-D8BE-621C-6B22-8C5625078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351A3-E98E-F111-C9AF-BEFF0D50E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FDA-CD65-45E5-F3A6-0AE7DB480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C063C-A744-0266-B39A-03D420E9B1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8B8172-AD5C-5397-A82C-36AEB6AA75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451183-CBA3-115E-5684-557E88C2AB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824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ADDF-6DB3-E05C-7A10-11262961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B0132-E402-487D-A27E-7DAB23BE2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7A782-5FF8-7BE6-9548-5A7E980D3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C8552-1D69-32FA-2135-50069EC45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66B37-B1A8-491E-C193-7CB7A2E54D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D972DF1-CD76-2222-6119-B4483EDE5AB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843103-EFF1-F1F6-A0EA-0F8D2CA107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742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BCD7-B98C-DCA4-43EF-EC82B78A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CBDBE-3E2C-0E17-F91A-4938213DE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79F1C-5100-039A-6C5A-CB6B52EAC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9A9A-0BAA-C741-E0A8-6E1BDC8BE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3537-EC74-F12D-DDEE-23AB44AD89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DF64BCD-A96E-193C-AEBE-C4A8851A09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F186AC-5DC8-9346-05C6-04E7C6ABAF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4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4111-9CD1-367E-2751-84D12728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878D4-BAE0-F837-11EB-CF830A2AD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55B0D-729A-06A2-6E82-AD1F3B12E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5E3B9-08C0-028F-E7CD-3AE8B98C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74585-4121-0FCA-BF28-5A738815057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04A8CFB-BACA-F317-1385-297348EDDDC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7EF22B-C7DF-DDF5-963C-F38B81781E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792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E125-3CEC-E500-BFB5-CC9D2E50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87243-C304-4441-AD85-6695DDFBE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54DCE-6566-FAEA-1B29-B8BE1327C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FF7F8-45D6-6195-CFB3-AB26550F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C356-65EB-9631-5A21-9643A5A9815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5A840C9-CF7C-5E27-8AF2-2F005E0A40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A3DAE83-47C3-A415-3EB4-E4F89AFFB6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49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3C14E-FDC4-6C61-8543-05C9111D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F245A-A6FE-0AA0-4712-95467E29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AA40C-82B2-38EA-7C9F-42E51E681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0EA00-68E9-003D-4A30-55EA7E71F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8A4A3-055D-D6A2-6A25-43C17ABD150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52C6EB1-35B2-69B4-A7DF-24D2D6D660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E0C628-6BA4-0313-5ED9-879E7FCDB6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465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750C-48D8-3662-14E7-D326754E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8DADB-E005-CE77-92A1-A31836F86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5C8D0-9946-F7A7-CB92-E78D2FB11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C37AF-473F-3CD2-6500-8C07C850B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FEFB7-089B-87ED-021C-B950CDE80D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BB875BA-D5C0-2018-8016-F4F6978509B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D180EA-75CC-7794-0FD6-D69ED11CF1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605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CF22-38B8-397B-849C-0784DE6B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2B6CF-8F23-5545-F21A-C6023740F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7D719-6FBD-4161-2427-4D2737F19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A7026-591B-3A7B-47C9-C616E30E8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E436A-2E72-0AF8-4D54-72ED602FE5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79AF31D-24BE-09C1-8C7E-E1B717ECC47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7EB307-4A3A-F3B6-38A9-E819009C75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099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4297-691B-88C5-152C-DE4D2499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405A9-CBE7-49D9-AF80-59040514D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4FE57-53B7-498E-7CBA-D1AB80437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1410D-9478-FE59-EA86-B1EBF5F8F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1ED40-7732-2E58-99C6-E041C8D4C2E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94A02E3-F243-F35A-BF77-C66C2F4A8C6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4F2FB4-465F-0048-9DC9-D0AD53895D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853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9/3/2026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9/3/2026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.xml"/><Relationship Id="rId6" Type="http://schemas.openxmlformats.org/officeDocument/2006/relationships/image" Target="../media/image26.svg"/><Relationship Id="rId5" Type="http://schemas.openxmlformats.org/officeDocument/2006/relationships/image" Target="../media/image24.sv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EE3063-0308-2DD5-3C3B-A38FCA32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38800"/>
            <a:ext cx="7002000" cy="1286506"/>
          </a:xfrm>
        </p:spPr>
        <p:txBody>
          <a:bodyPr/>
          <a:lstStyle/>
          <a:p>
            <a:r>
              <a:rPr lang="en-US" dirty="0">
                <a:cs typeface="Arial"/>
              </a:rPr>
              <a:t>Tech Refresher - JavaScript</a:t>
            </a:r>
            <a:br>
              <a:rPr lang="en-US" dirty="0">
                <a:cs typeface="Arial"/>
              </a:rPr>
            </a:b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4EE1D-FB04-DECE-9F42-22DA4C231E5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4400" y="5606495"/>
            <a:ext cx="5090400" cy="184666"/>
          </a:xfrm>
        </p:spPr>
        <p:txBody>
          <a:bodyPr/>
          <a:lstStyle/>
          <a:p>
            <a:r>
              <a:rPr lang="en-US" dirty="0"/>
              <a:t>09</a:t>
            </a:r>
            <a:r>
              <a:rPr lang="en-US" baseline="30000" dirty="0"/>
              <a:t>th</a:t>
            </a:r>
            <a:r>
              <a:rPr lang="en-US" dirty="0"/>
              <a:t> September,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732AD-EA4E-B14E-A59E-A855D13EF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59C3-93FB-E327-2C2C-0475F43A94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7EA5D-DE3C-BBDC-370A-88A37FC67A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5044595"/>
            <a:ext cx="5090400" cy="492443"/>
          </a:xfrm>
        </p:spPr>
        <p:txBody>
          <a:bodyPr/>
          <a:lstStyle/>
          <a:p>
            <a:r>
              <a:rPr lang="en-US" sz="1600" dirty="0"/>
              <a:t>Kaushik C</a:t>
            </a:r>
            <a:br>
              <a:rPr lang="en-US" sz="1600" dirty="0"/>
            </a:br>
            <a:r>
              <a:rPr lang="en-US" sz="1600" dirty="0">
                <a:solidFill>
                  <a:schemeClr val="tx1"/>
                </a:solidFill>
              </a:rPr>
              <a:t>Lead Data Engineer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5F301D8-45DB-343E-948E-DAB1B8D1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219200"/>
            <a:ext cx="11173968" cy="664797"/>
          </a:xfrm>
        </p:spPr>
        <p:txBody>
          <a:bodyPr/>
          <a:lstStyle/>
          <a:p>
            <a:r>
              <a:rPr lang="en-IN" dirty="0"/>
              <a:t>Basics • Core Concepts • Hands-on</a:t>
            </a:r>
          </a:p>
          <a:p>
            <a:endParaRPr lang="en-IN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6458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79"/>
    </mc:Choice>
    <mc:Fallback xmlns="">
      <p:transition spd="slow" advTm="501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3EB-8E20-2B34-FD04-0F57C8E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1728"/>
            <a:ext cx="7956000" cy="496800"/>
          </a:xfrm>
        </p:spPr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EB78-731C-E59B-0545-89BE99631FE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2E49-6F72-2F35-2D2C-AE22208B24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82BD6475-8736-2D82-603E-A660BA5EF430}"/>
              </a:ext>
            </a:extLst>
          </p:cNvPr>
          <p:cNvSpPr/>
          <p:nvPr/>
        </p:nvSpPr>
        <p:spPr>
          <a:xfrm>
            <a:off x="698292" y="1494989"/>
            <a:ext cx="5122249" cy="4338883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802B5-9D41-2D2F-5A1A-83526E465EDA}"/>
              </a:ext>
            </a:extLst>
          </p:cNvPr>
          <p:cNvSpPr txBox="1"/>
          <p:nvPr/>
        </p:nvSpPr>
        <p:spPr>
          <a:xfrm>
            <a:off x="1043855" y="1609344"/>
            <a:ext cx="457133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rPr dirty="0"/>
              <a:t>Foundation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69554F-A5EA-679C-FA42-0F20B8F44E4C}"/>
              </a:ext>
            </a:extLst>
          </p:cNvPr>
          <p:cNvSpPr txBox="1"/>
          <p:nvPr/>
        </p:nvSpPr>
        <p:spPr>
          <a:xfrm>
            <a:off x="907536" y="2088404"/>
            <a:ext cx="457133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Technology / Domain / Topic Overview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What is JavaScript?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Why and where JavaScript is used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JavaScript in HTML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Basic elements </a:t>
            </a:r>
            <a:r>
              <a:rPr lang="en-US" dirty="0"/>
              <a:t>&amp;</a:t>
            </a:r>
            <a:r>
              <a:rPr dirty="0"/>
              <a:t> output</a:t>
            </a:r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1363784A-4358-95D3-AA99-562A1EB4BA81}"/>
              </a:ext>
            </a:extLst>
          </p:cNvPr>
          <p:cNvSpPr/>
          <p:nvPr/>
        </p:nvSpPr>
        <p:spPr>
          <a:xfrm>
            <a:off x="6025896" y="1494990"/>
            <a:ext cx="5122249" cy="433888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53377A-D880-30CC-6E7E-958A7A88DC14}"/>
              </a:ext>
            </a:extLst>
          </p:cNvPr>
          <p:cNvSpPr txBox="1"/>
          <p:nvPr/>
        </p:nvSpPr>
        <p:spPr>
          <a:xfrm>
            <a:off x="6455664" y="1609344"/>
            <a:ext cx="44198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rPr dirty="0"/>
              <a:t>Refresh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33283C-0CFA-8153-30A2-F272719F6C3D}"/>
              </a:ext>
            </a:extLst>
          </p:cNvPr>
          <p:cNvSpPr txBox="1"/>
          <p:nvPr/>
        </p:nvSpPr>
        <p:spPr>
          <a:xfrm>
            <a:off x="6236208" y="2093976"/>
            <a:ext cx="45972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Core language concepts</a:t>
            </a: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Functions, objects and modern syntax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DOM and events</a:t>
            </a:r>
            <a:endParaRPr lang="en-IN" dirty="0"/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Asynchronous JavaScript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APIs, debugging, AI leverage and hands-on exercises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E47F60-3EF2-6D50-FDDE-5E84E47074C2}"/>
              </a:ext>
            </a:extLst>
          </p:cNvPr>
          <p:cNvSpPr/>
          <p:nvPr/>
        </p:nvSpPr>
        <p:spPr>
          <a:xfrm>
            <a:off x="1293924" y="6347765"/>
            <a:ext cx="9398438" cy="45719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B04A1B-542D-A1CF-DB67-B85EEF833FA6}"/>
              </a:ext>
            </a:extLst>
          </p:cNvPr>
          <p:cNvSpPr txBox="1"/>
          <p:nvPr/>
        </p:nvSpPr>
        <p:spPr>
          <a:xfrm>
            <a:off x="10879649" y="6419088"/>
            <a:ext cx="58740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661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4E56B-AC78-75A0-19F6-CD8D364C49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2BC18-A371-C031-0AD3-7699BDD527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EE3AB-F54F-C75E-4099-A57D611CA3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E5C19D-9118-18B0-C95D-E87DE6FBB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6143"/>
            <a:ext cx="5083277" cy="643253"/>
          </a:xfrm>
        </p:spPr>
        <p:txBody>
          <a:bodyPr/>
          <a:lstStyle/>
          <a:p>
            <a:r>
              <a:rPr lang="en-US" dirty="0"/>
              <a:t>Trainer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57028-900B-C2D2-9B88-7AC7C2DC3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625" y="353961"/>
            <a:ext cx="2009729" cy="213053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BE1ABF9-522C-BCBD-8E80-0D50DA5B8AD1}"/>
              </a:ext>
            </a:extLst>
          </p:cNvPr>
          <p:cNvGrpSpPr/>
          <p:nvPr/>
        </p:nvGrpSpPr>
        <p:grpSpPr>
          <a:xfrm>
            <a:off x="365126" y="973396"/>
            <a:ext cx="8936189" cy="5658462"/>
            <a:chOff x="5049837" y="2258373"/>
            <a:chExt cx="4954587" cy="4151402"/>
          </a:xfrm>
        </p:grpSpPr>
        <p:sp>
          <p:nvSpPr>
            <p:cNvPr id="13" name="Triangle 51">
              <a:extLst>
                <a:ext uri="{FF2B5EF4-FFF2-40B4-BE49-F238E27FC236}">
                  <a16:creationId xmlns:a16="http://schemas.microsoft.com/office/drawing/2014/main" id="{30A06054-AB7F-8C54-AF51-5D5536A00308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Triangle 48">
              <a:extLst>
                <a:ext uri="{FF2B5EF4-FFF2-40B4-BE49-F238E27FC236}">
                  <a16:creationId xmlns:a16="http://schemas.microsoft.com/office/drawing/2014/main" id="{348C1E03-2DAD-7EC9-1202-F1846636222F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9F1A33-63BA-A35A-2C00-A3478C77193F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Tata Consultancy Services (TCS) – Developer (3.5 years, Chennai)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Stibo Systems India Pvt. Ltd. – Solution Consultant (1.5 years, WFH)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Bosch Global Software Solutions – Developer/Functional Consultant (2.3 years, Coimbatore)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Ferguson Global India – Lead Data Engineer (1.2</a:t>
              </a:r>
              <a:r>
                <a:rPr lang="en-US">
                  <a:solidFill>
                    <a:schemeClr val="tx1"/>
                  </a:solidFill>
                </a:rPr>
                <a:t>+ years)</a:t>
              </a: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From Coimbatore (</a:t>
              </a:r>
              <a:r>
                <a:rPr lang="en-US" dirty="0" err="1">
                  <a:solidFill>
                    <a:schemeClr val="tx1"/>
                  </a:solidFill>
                </a:rPr>
                <a:t>Tiruppur</a:t>
              </a:r>
              <a:r>
                <a:rPr lang="en-US" dirty="0">
                  <a:solidFill>
                    <a:schemeClr val="tx1"/>
                  </a:solidFill>
                </a:rPr>
                <a:t>), Tamil Nadu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Love to play sports, roam around &amp; be with friends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B5D1FF-4267-7D8A-6456-E1886DBE8FDB}"/>
                </a:ext>
              </a:extLst>
            </p:cNvPr>
            <p:cNvSpPr/>
            <p:nvPr/>
          </p:nvSpPr>
          <p:spPr>
            <a:xfrm>
              <a:off x="5049837" y="2258373"/>
              <a:ext cx="4954587" cy="715485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US" sz="2800" noProof="0" dirty="0"/>
                <a:t>Kaushik C – Lead Data Engineer (8.5+ years)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4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B2919-90EE-71D6-62E9-36F67FFCD73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8A0DF-F856-F8C1-3D71-DC18D159BE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5172B-99A5-A6CF-5957-5E9403714D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FA532A-B5FF-6104-030E-B79C58D1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1286506"/>
          </a:xfrm>
        </p:spPr>
        <p:txBody>
          <a:bodyPr/>
          <a:lstStyle/>
          <a:p>
            <a:r>
              <a:rPr lang="en-IN" dirty="0"/>
              <a:t>The Basics of JavaScript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4FAE4-CDDC-277E-7D7C-83102F407045}"/>
              </a:ext>
            </a:extLst>
          </p:cNvPr>
          <p:cNvSpPr txBox="1"/>
          <p:nvPr/>
        </p:nvSpPr>
        <p:spPr>
          <a:xfrm>
            <a:off x="914400" y="3084201"/>
            <a:ext cx="10890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7F0FA"/>
                </a:solidFill>
                <a:latin typeface="Arial"/>
              </a:defRPr>
            </a:pPr>
            <a:r>
              <a:rPr lang="en-US" sz="2800" dirty="0"/>
              <a:t>What it is, why it exists, where it runs.</a:t>
            </a:r>
          </a:p>
        </p:txBody>
      </p:sp>
      <p:pic>
        <p:nvPicPr>
          <p:cNvPr id="9" name="Graphic 8" descr="Apple with solid fill">
            <a:extLst>
              <a:ext uri="{FF2B5EF4-FFF2-40B4-BE49-F238E27FC236}">
                <a16:creationId xmlns:a16="http://schemas.microsoft.com/office/drawing/2014/main" id="{8A7E67A0-C3FF-1E16-C068-F58C5BFBD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2952" y="4521139"/>
            <a:ext cx="1255776" cy="1255776"/>
          </a:xfrm>
          <a:prstGeom prst="rect">
            <a:avLst/>
          </a:prstGeom>
        </p:spPr>
      </p:pic>
      <p:pic>
        <p:nvPicPr>
          <p:cNvPr id="11" name="Graphic 10" descr="Apple outline">
            <a:extLst>
              <a:ext uri="{FF2B5EF4-FFF2-40B4-BE49-F238E27FC236}">
                <a16:creationId xmlns:a16="http://schemas.microsoft.com/office/drawing/2014/main" id="{DE4BB949-5225-ADC0-6A94-0E94B9B48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616" y="4521139"/>
            <a:ext cx="1255776" cy="12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1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76A0-39F5-5203-8125-034158F3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JavaScript???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FD4AAB-D7D5-09AF-84D7-E2DE2408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A3C558-982B-C745-A7B8-359ADE85D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noProof="0" smtClean="0"/>
              <a:pPr/>
              <a:t>9/3/2026</a:t>
            </a:fld>
            <a:endParaRPr lang="en-US" noProof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D76512-1865-F147-5847-E14B9359FF5F}"/>
              </a:ext>
            </a:extLst>
          </p:cNvPr>
          <p:cNvGrpSpPr/>
          <p:nvPr/>
        </p:nvGrpSpPr>
        <p:grpSpPr>
          <a:xfrm>
            <a:off x="365127" y="1249519"/>
            <a:ext cx="3622674" cy="4358962"/>
            <a:chOff x="5049837" y="2050813"/>
            <a:chExt cx="4954587" cy="4358962"/>
          </a:xfrm>
        </p:grpSpPr>
        <p:sp>
          <p:nvSpPr>
            <p:cNvPr id="18" name="Triangle 51">
              <a:extLst>
                <a:ext uri="{FF2B5EF4-FFF2-40B4-BE49-F238E27FC236}">
                  <a16:creationId xmlns:a16="http://schemas.microsoft.com/office/drawing/2014/main" id="{B499EED0-4B49-FBDF-7217-F41402D1433B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Triangle 48">
              <a:extLst>
                <a:ext uri="{FF2B5EF4-FFF2-40B4-BE49-F238E27FC236}">
                  <a16:creationId xmlns:a16="http://schemas.microsoft.com/office/drawing/2014/main" id="{8DC7B19B-D15D-D6A6-A653-823374E5AED2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A983D4A-0796-BCD6-677A-D0D2998B8F68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JavaScript is a scripting language most often used for client-side web development.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JavaScript is an implementation of the ECMAScript Standard.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F21103-90B1-C688-252A-B5E86B524B9C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FA4E34-906D-342D-B534-6DAD329BBFED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3600" b="1" noProof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9468E7-F808-B1B5-82D2-1B91137E7974}"/>
              </a:ext>
            </a:extLst>
          </p:cNvPr>
          <p:cNvGrpSpPr/>
          <p:nvPr/>
        </p:nvGrpSpPr>
        <p:grpSpPr>
          <a:xfrm>
            <a:off x="4277016" y="1249519"/>
            <a:ext cx="3622674" cy="4358962"/>
            <a:chOff x="5049837" y="2050813"/>
            <a:chExt cx="4954587" cy="4358962"/>
          </a:xfrm>
        </p:grpSpPr>
        <p:sp>
          <p:nvSpPr>
            <p:cNvPr id="24" name="Triangle 51">
              <a:extLst>
                <a:ext uri="{FF2B5EF4-FFF2-40B4-BE49-F238E27FC236}">
                  <a16:creationId xmlns:a16="http://schemas.microsoft.com/office/drawing/2014/main" id="{1252381B-E546-F796-8DF8-2CF8B253ED53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5" name="Triangle 48">
              <a:extLst>
                <a:ext uri="{FF2B5EF4-FFF2-40B4-BE49-F238E27FC236}">
                  <a16:creationId xmlns:a16="http://schemas.microsoft.com/office/drawing/2014/main" id="{6D5A6BFC-5047-87E3-5BC0-EE115C10F068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85DDEF-4876-D93D-EC26-0B5773DEC419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tx1"/>
                  </a:solidFill>
                </a:rPr>
                <a:t>EMCAScript</a:t>
              </a:r>
              <a:r>
                <a:rPr lang="en-US" dirty="0">
                  <a:solidFill>
                    <a:schemeClr val="tx1"/>
                  </a:solidFill>
                </a:rPr>
                <a:t> defines the syntax/characteristics of the language.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Basic set of commonly used objects such as Numbers, Date, Regular Expression, etc.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2C8003-842A-FAAB-874E-41F666E0860A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BBEF48-4804-8576-8999-F968647CE4D3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3600" b="1" noProof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37821D-5833-236D-376D-8B335F5B7A31}"/>
              </a:ext>
            </a:extLst>
          </p:cNvPr>
          <p:cNvGrpSpPr/>
          <p:nvPr/>
        </p:nvGrpSpPr>
        <p:grpSpPr>
          <a:xfrm>
            <a:off x="8109726" y="1249519"/>
            <a:ext cx="3622674" cy="4358962"/>
            <a:chOff x="5049837" y="2050813"/>
            <a:chExt cx="4954587" cy="4358962"/>
          </a:xfrm>
        </p:grpSpPr>
        <p:sp>
          <p:nvSpPr>
            <p:cNvPr id="30" name="Triangle 51">
              <a:extLst>
                <a:ext uri="{FF2B5EF4-FFF2-40B4-BE49-F238E27FC236}">
                  <a16:creationId xmlns:a16="http://schemas.microsoft.com/office/drawing/2014/main" id="{33CBED87-4D7C-5DC5-E038-8198D5D11B06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Triangle 48">
              <a:extLst>
                <a:ext uri="{FF2B5EF4-FFF2-40B4-BE49-F238E27FC236}">
                  <a16:creationId xmlns:a16="http://schemas.microsoft.com/office/drawing/2014/main" id="{8087F8D9-9C3C-2160-7B6B-C545911EE4D6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B8295F-305B-E31C-4005-055E196F5A49}"/>
                </a:ext>
              </a:extLst>
            </p:cNvPr>
            <p:cNvSpPr/>
            <p:nvPr/>
          </p:nvSpPr>
          <p:spPr>
            <a:xfrm>
              <a:off x="5230813" y="2973859"/>
              <a:ext cx="4593600" cy="3435916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The JavaScript-supported browsers typically support additional objects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 e.g. Windows, Frame, Form, DOM, etc.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Different types of versions are available.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e.g. </a:t>
              </a:r>
              <a:r>
                <a:rPr lang="en-US" sz="1600" b="1" dirty="0">
                  <a:solidFill>
                    <a:schemeClr val="tx1"/>
                  </a:solidFill>
                </a:rPr>
                <a:t>JScript</a:t>
              </a:r>
              <a:r>
                <a:rPr lang="en-US" sz="1600" dirty="0">
                  <a:solidFill>
                    <a:schemeClr val="tx1"/>
                  </a:solidFill>
                </a:rPr>
                <a:t> is the Microsoft version of JavaScript, </a:t>
              </a:r>
              <a:r>
                <a:rPr lang="en-IN" sz="1600" b="1" dirty="0">
                  <a:solidFill>
                    <a:schemeClr val="tx1"/>
                  </a:solidFill>
                </a:rPr>
                <a:t>ActionScript</a:t>
              </a:r>
              <a:r>
                <a:rPr lang="en-IN" sz="1600" dirty="0">
                  <a:solidFill>
                    <a:schemeClr val="tx1"/>
                  </a:solidFill>
                </a:rPr>
                <a:t> for Adobe, etc,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CBCF19F-171D-3505-750D-8807BB2E1B6F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F92459E-FBEE-886C-4AD1-1667C5C02B92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3600" b="1" noProof="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164CAF-3D4D-E278-2C5C-BA3F5D55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pic>
        <p:nvPicPr>
          <p:cNvPr id="4" name="Graphic 3" descr="3d Glasses with solid fill">
            <a:extLst>
              <a:ext uri="{FF2B5EF4-FFF2-40B4-BE49-F238E27FC236}">
                <a16:creationId xmlns:a16="http://schemas.microsoft.com/office/drawing/2014/main" id="{10EB6D7A-68DB-126B-4712-EB0F99090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6" y="1302237"/>
            <a:ext cx="785434" cy="785434"/>
          </a:xfrm>
          <a:prstGeom prst="rect">
            <a:avLst/>
          </a:prstGeom>
        </p:spPr>
      </p:pic>
      <p:pic>
        <p:nvPicPr>
          <p:cNvPr id="6" name="Graphic 5" descr="Angry face with solid fill with solid fill">
            <a:extLst>
              <a:ext uri="{FF2B5EF4-FFF2-40B4-BE49-F238E27FC236}">
                <a16:creationId xmlns:a16="http://schemas.microsoft.com/office/drawing/2014/main" id="{433D1BA8-9EAB-EFBE-CCE6-3109AB3F0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7332" y="1336970"/>
            <a:ext cx="800728" cy="720820"/>
          </a:xfrm>
          <a:prstGeom prst="rect">
            <a:avLst/>
          </a:prstGeom>
        </p:spPr>
      </p:pic>
      <p:pic>
        <p:nvPicPr>
          <p:cNvPr id="11" name="Graphic 10" descr="Open hand with solid fill">
            <a:extLst>
              <a:ext uri="{FF2B5EF4-FFF2-40B4-BE49-F238E27FC236}">
                <a16:creationId xmlns:a16="http://schemas.microsoft.com/office/drawing/2014/main" id="{A888AD2C-A2B2-15E0-9280-DF01B0ED6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386" y="1383765"/>
            <a:ext cx="800727" cy="80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223"/>
    </mc:Choice>
    <mc:Fallback xmlns="">
      <p:transition spd="slow" advTm="7822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0269-6CD1-41B7-D38B-053A0FBA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728860DD-CBDE-7149-653A-BF83D1C4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21A65C87-E206-37FA-1E3D-C373A3B57DC0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&amp; where </a:t>
            </a:r>
            <a:r>
              <a:rPr lang="en-US" dirty="0" err="1"/>
              <a:t>Javascript</a:t>
            </a:r>
            <a:r>
              <a:rPr lang="en-US" dirty="0"/>
              <a:t>?</a:t>
            </a:r>
          </a:p>
        </p:txBody>
      </p:sp>
      <p:sp>
        <p:nvSpPr>
          <p:cNvPr id="51" name="Slide Number Placeholder 7">
            <a:extLst>
              <a:ext uri="{FF2B5EF4-FFF2-40B4-BE49-F238E27FC236}">
                <a16:creationId xmlns:a16="http://schemas.microsoft.com/office/drawing/2014/main" id="{43FA4D97-0F17-2513-D7A8-36B7C15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52" name="Date Placeholder 8">
            <a:extLst>
              <a:ext uri="{FF2B5EF4-FFF2-40B4-BE49-F238E27FC236}">
                <a16:creationId xmlns:a16="http://schemas.microsoft.com/office/drawing/2014/main" id="{EE14DE5B-7A4A-C4F5-400C-B9C8D97B1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noProof="0" smtClean="0"/>
              <a:pPr/>
              <a:t>9/3/2026</a:t>
            </a:fld>
            <a:endParaRPr lang="en-US" noProof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25875E-B1E0-B27A-02FD-810AC38882C6}"/>
              </a:ext>
            </a:extLst>
          </p:cNvPr>
          <p:cNvGrpSpPr/>
          <p:nvPr/>
        </p:nvGrpSpPr>
        <p:grpSpPr>
          <a:xfrm>
            <a:off x="365127" y="1249519"/>
            <a:ext cx="5317918" cy="4358962"/>
            <a:chOff x="5049837" y="2050813"/>
            <a:chExt cx="4954587" cy="4358962"/>
          </a:xfrm>
        </p:grpSpPr>
        <p:sp>
          <p:nvSpPr>
            <p:cNvPr id="54" name="Triangle 51">
              <a:extLst>
                <a:ext uri="{FF2B5EF4-FFF2-40B4-BE49-F238E27FC236}">
                  <a16:creationId xmlns:a16="http://schemas.microsoft.com/office/drawing/2014/main" id="{0135C525-9829-57E3-EDFB-E97010992A68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5" name="Triangle 48">
              <a:extLst>
                <a:ext uri="{FF2B5EF4-FFF2-40B4-BE49-F238E27FC236}">
                  <a16:creationId xmlns:a16="http://schemas.microsoft.com/office/drawing/2014/main" id="{E746D71F-1DFE-CF1B-CC9A-94DFA45D92B6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6FDEA8A-B089-FE1E-8809-D69C8AF162CE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Interactive user interfaces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Form validation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Dynamic page content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Browser events and user actions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API calls and asynchronous data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</a:rPr>
                <a:t>Automation and tooling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38DA86F-C3DF-B538-7C77-4F0CB7283983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3387D6A-6C92-C20A-850B-E5C510B0CE24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3600" b="1" noProof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5C26C2D-EF20-A48C-3200-58BD0BE6D3E1}"/>
              </a:ext>
            </a:extLst>
          </p:cNvPr>
          <p:cNvGrpSpPr/>
          <p:nvPr/>
        </p:nvGrpSpPr>
        <p:grpSpPr>
          <a:xfrm>
            <a:off x="6646606" y="1249519"/>
            <a:ext cx="5085794" cy="4358962"/>
            <a:chOff x="5049837" y="2050813"/>
            <a:chExt cx="4954587" cy="4358962"/>
          </a:xfrm>
        </p:grpSpPr>
        <p:sp>
          <p:nvSpPr>
            <p:cNvPr id="66" name="Triangle 51">
              <a:extLst>
                <a:ext uri="{FF2B5EF4-FFF2-40B4-BE49-F238E27FC236}">
                  <a16:creationId xmlns:a16="http://schemas.microsoft.com/office/drawing/2014/main" id="{A94D014D-A163-DC10-195B-352C21E2E11A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7" name="Triangle 48">
              <a:extLst>
                <a:ext uri="{FF2B5EF4-FFF2-40B4-BE49-F238E27FC236}">
                  <a16:creationId xmlns:a16="http://schemas.microsoft.com/office/drawing/2014/main" id="{3D03015B-A1A3-DF08-EEF8-B2FFF7F3959D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EFDC038-4D92-68B3-19CD-10EADEF3E771}"/>
                </a:ext>
              </a:extLst>
            </p:cNvPr>
            <p:cNvSpPr/>
            <p:nvPr/>
          </p:nvSpPr>
          <p:spPr>
            <a:xfrm>
              <a:off x="5230813" y="2973859"/>
              <a:ext cx="4593600" cy="3435916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Web browsers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Frontend frameworks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Backend services with Node.js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Build / test tooling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Serverless applications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Browser-based utilities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DB4427E-1DC2-04D1-5E6F-BFCEEF94BC8B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1E4F916-2496-B1B9-7812-DA889B70396D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3600" b="1" noProof="0"/>
            </a:p>
          </p:txBody>
        </p:sp>
      </p:grpSp>
      <p:sp>
        <p:nvSpPr>
          <p:cNvPr id="71" name="Footer Placeholder 6">
            <a:extLst>
              <a:ext uri="{FF2B5EF4-FFF2-40B4-BE49-F238E27FC236}">
                <a16:creationId xmlns:a16="http://schemas.microsoft.com/office/drawing/2014/main" id="{2BE87B19-0867-F4F4-A8DF-171E9785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</p:spPr>
        <p:txBody>
          <a:bodyPr/>
          <a:lstStyle/>
          <a:p>
            <a:endParaRPr lang="en-US" noProof="0"/>
          </a:p>
        </p:txBody>
      </p:sp>
      <p:pic>
        <p:nvPicPr>
          <p:cNvPr id="72" name="Graphic 71" descr="3d Glasses with solid fill">
            <a:extLst>
              <a:ext uri="{FF2B5EF4-FFF2-40B4-BE49-F238E27FC236}">
                <a16:creationId xmlns:a16="http://schemas.microsoft.com/office/drawing/2014/main" id="{DF737276-E035-984F-23EE-8600DED41C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442" y="1366720"/>
            <a:ext cx="785434" cy="785434"/>
          </a:xfrm>
          <a:prstGeom prst="rect">
            <a:avLst/>
          </a:prstGeom>
        </p:spPr>
      </p:pic>
      <p:pic>
        <p:nvPicPr>
          <p:cNvPr id="74" name="Graphic 73" descr="Open hand with solid fill">
            <a:extLst>
              <a:ext uri="{FF2B5EF4-FFF2-40B4-BE49-F238E27FC236}">
                <a16:creationId xmlns:a16="http://schemas.microsoft.com/office/drawing/2014/main" id="{1B310DD8-A67F-9D5B-4CAE-54B3E619F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9348" y="1366720"/>
            <a:ext cx="800727" cy="800727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7336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495"/>
    </mc:Choice>
    <mc:Fallback xmlns="">
      <p:transition spd="slow" advTm="14049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9B682-432C-2D56-66DD-14CC2BFC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576D-756F-3943-ABDD-4ED3C910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Simple JavaScript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951EBB-4A97-6128-DB11-4171A8BA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EB73EE-CBC1-336A-2FD3-CD2BA1FE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9E182D-D327-0373-3795-4CAA0AF079A6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FDEA0-B2B2-01D6-CD61-88A6225AE1BF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91006-9CC3-5574-DC74-6C6FF012F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18" y="1508924"/>
            <a:ext cx="4724809" cy="2255715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9059CC-7773-A9F5-B793-1CF1E84EC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1371600"/>
            <a:ext cx="5949928" cy="4392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79C3AB5-7733-878C-1ED6-28034D44BD3E}"/>
              </a:ext>
            </a:extLst>
          </p:cNvPr>
          <p:cNvSpPr/>
          <p:nvPr/>
        </p:nvSpPr>
        <p:spPr>
          <a:xfrm>
            <a:off x="457201" y="1094400"/>
            <a:ext cx="6013936" cy="462060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BCAC4-8AE5-915B-F64A-5453E3FD63E7}"/>
              </a:ext>
            </a:extLst>
          </p:cNvPr>
          <p:cNvSpPr txBox="1"/>
          <p:nvPr/>
        </p:nvSpPr>
        <p:spPr>
          <a:xfrm>
            <a:off x="1068533" y="1444752"/>
            <a:ext cx="50274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&lt;!DOCTYPE html&gt;</a:t>
            </a:r>
            <a:br>
              <a:rPr dirty="0"/>
            </a:br>
            <a:r>
              <a:rPr dirty="0"/>
              <a:t>&lt;html&gt;</a:t>
            </a:r>
            <a:br>
              <a:rPr dirty="0"/>
            </a:br>
            <a:r>
              <a:rPr dirty="0"/>
              <a:t>&lt;body&gt;</a:t>
            </a:r>
            <a:br>
              <a:rPr dirty="0"/>
            </a:br>
            <a:r>
              <a:rPr dirty="0"/>
              <a:t>  &lt;h2&gt;JavaScript in Body&lt;/h2&gt;</a:t>
            </a:r>
            <a:br>
              <a:rPr dirty="0"/>
            </a:br>
            <a:r>
              <a:rPr dirty="0"/>
              <a:t>  &lt;p id="demo"&gt;&lt;/p&gt;</a:t>
            </a:r>
            <a:br>
              <a:rPr dirty="0"/>
            </a:br>
            <a:br>
              <a:rPr dirty="0"/>
            </a:br>
            <a:r>
              <a:rPr dirty="0"/>
              <a:t>  &lt;script&gt;</a:t>
            </a:r>
            <a:br>
              <a:rPr dirty="0"/>
            </a:br>
            <a:r>
              <a:rPr dirty="0"/>
              <a:t>    </a:t>
            </a:r>
            <a:r>
              <a:rPr dirty="0" err="1"/>
              <a:t>document.getElementById</a:t>
            </a:r>
            <a:r>
              <a:rPr dirty="0"/>
              <a:t>("demo").</a:t>
            </a:r>
            <a:r>
              <a:rPr dirty="0" err="1"/>
              <a:t>innerHTML</a:t>
            </a:r>
            <a:r>
              <a:rPr dirty="0"/>
              <a:t> =</a:t>
            </a:r>
            <a:br>
              <a:rPr dirty="0"/>
            </a:br>
            <a:r>
              <a:rPr dirty="0"/>
              <a:t>      "My First JavaScript";</a:t>
            </a:r>
            <a:br>
              <a:rPr dirty="0"/>
            </a:br>
            <a:r>
              <a:rPr dirty="0"/>
              <a:t>  &lt;/script&gt;</a:t>
            </a:r>
            <a:br>
              <a:rPr dirty="0"/>
            </a:br>
            <a:r>
              <a:rPr dirty="0"/>
              <a:t>&lt;/body&gt;</a:t>
            </a:r>
            <a:br>
              <a:rPr dirty="0"/>
            </a:br>
            <a:r>
              <a:rPr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911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7BEF-3205-FBF7-2205-6E41F7F3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26AEC680-33CB-3248-B0E5-263D03D4EB51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Where does JavaScript?</a:t>
            </a:r>
          </a:p>
        </p:txBody>
      </p:sp>
      <p:sp>
        <p:nvSpPr>
          <p:cNvPr id="38" name="Slide Number Placeholder 7">
            <a:extLst>
              <a:ext uri="{FF2B5EF4-FFF2-40B4-BE49-F238E27FC236}">
                <a16:creationId xmlns:a16="http://schemas.microsoft.com/office/drawing/2014/main" id="{3A145765-9937-BFD1-5C38-F913A850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39" name="Date Placeholder 8">
            <a:extLst>
              <a:ext uri="{FF2B5EF4-FFF2-40B4-BE49-F238E27FC236}">
                <a16:creationId xmlns:a16="http://schemas.microsoft.com/office/drawing/2014/main" id="{03775E8E-0067-605B-736F-77F6459B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noProof="0" smtClean="0"/>
              <a:pPr/>
              <a:t>9/3/2026</a:t>
            </a:fld>
            <a:endParaRPr lang="en-US" noProof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009764-858C-A9C6-8972-906E62420AF4}"/>
              </a:ext>
            </a:extLst>
          </p:cNvPr>
          <p:cNvGrpSpPr/>
          <p:nvPr/>
        </p:nvGrpSpPr>
        <p:grpSpPr>
          <a:xfrm>
            <a:off x="360957" y="1383766"/>
            <a:ext cx="5317918" cy="4224715"/>
            <a:chOff x="5045952" y="2185060"/>
            <a:chExt cx="4954587" cy="4224715"/>
          </a:xfrm>
        </p:grpSpPr>
        <p:sp>
          <p:nvSpPr>
            <p:cNvPr id="41" name="Triangle 51">
              <a:extLst>
                <a:ext uri="{FF2B5EF4-FFF2-40B4-BE49-F238E27FC236}">
                  <a16:creationId xmlns:a16="http://schemas.microsoft.com/office/drawing/2014/main" id="{B6E7C078-EE33-7964-0B09-7822DB25ED1A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2" name="Triangle 48">
              <a:extLst>
                <a:ext uri="{FF2B5EF4-FFF2-40B4-BE49-F238E27FC236}">
                  <a16:creationId xmlns:a16="http://schemas.microsoft.com/office/drawing/2014/main" id="{AAD013CE-D827-2B86-1144-FDFC22623DBF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8E9C622-0F7A-1BC4-55C0-CAAB232CFC38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/>
                <a:t>&lt;</a:t>
              </a: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script&gt; inside the HTML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Useful for small demonstrations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chemeClr val="tx1"/>
                  </a:solidFill>
                  <a:latin typeface="Arial"/>
                </a:rPr>
                <a:t>Can be placed in &lt;head&gt; or &lt;body&gt;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C4BF0C-D49A-7368-53D5-EFDF215BA45F}"/>
                </a:ext>
              </a:extLst>
            </p:cNvPr>
            <p:cNvSpPr/>
            <p:nvPr/>
          </p:nvSpPr>
          <p:spPr>
            <a:xfrm>
              <a:off x="5045952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US" sz="2800" noProof="0" dirty="0"/>
                <a:t>Internal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BA4AC3-F013-985F-4D50-8C7D7CE5A974}"/>
              </a:ext>
            </a:extLst>
          </p:cNvPr>
          <p:cNvGrpSpPr/>
          <p:nvPr/>
        </p:nvGrpSpPr>
        <p:grpSpPr>
          <a:xfrm>
            <a:off x="6646606" y="1383766"/>
            <a:ext cx="5085794" cy="4224715"/>
            <a:chOff x="5049837" y="2185060"/>
            <a:chExt cx="4954587" cy="4224715"/>
          </a:xfrm>
        </p:grpSpPr>
        <p:sp>
          <p:nvSpPr>
            <p:cNvPr id="47" name="Triangle 51">
              <a:extLst>
                <a:ext uri="{FF2B5EF4-FFF2-40B4-BE49-F238E27FC236}">
                  <a16:creationId xmlns:a16="http://schemas.microsoft.com/office/drawing/2014/main" id="{93547F43-64EA-2ACE-E124-62FAF8F19825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8" name="Triangle 48">
              <a:extLst>
                <a:ext uri="{FF2B5EF4-FFF2-40B4-BE49-F238E27FC236}">
                  <a16:creationId xmlns:a16="http://schemas.microsoft.com/office/drawing/2014/main" id="{38476BBF-E77D-2123-0207-EAF910D68DE8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5B75247-CD1F-DB25-6A22-3530DE3B3F4F}"/>
                </a:ext>
              </a:extLst>
            </p:cNvPr>
            <p:cNvSpPr/>
            <p:nvPr/>
          </p:nvSpPr>
          <p:spPr>
            <a:xfrm>
              <a:off x="5230813" y="2973859"/>
              <a:ext cx="4593600" cy="3435916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rgbClr val="282D34"/>
                  </a:solidFill>
                  <a:latin typeface="Arial"/>
                </a:rPr>
                <a:t>&lt;script </a:t>
              </a:r>
              <a:r>
                <a:rPr lang="en-US" sz="1600" dirty="0" err="1">
                  <a:solidFill>
                    <a:srgbClr val="282D34"/>
                  </a:solidFill>
                  <a:latin typeface="Arial"/>
                </a:rPr>
                <a:t>src</a:t>
              </a:r>
              <a:r>
                <a:rPr lang="en-US" sz="1600" dirty="0">
                  <a:solidFill>
                    <a:srgbClr val="282D34"/>
                  </a:solidFill>
                  <a:latin typeface="Arial"/>
                </a:rPr>
                <a:t>="app.js"&gt;&lt;/script&gt;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rgbClr val="282D34"/>
                  </a:solidFill>
                  <a:latin typeface="Arial"/>
                </a:rPr>
                <a:t>Preferred for maintainability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rgbClr val="282D34"/>
                  </a:solidFill>
                  <a:latin typeface="Arial"/>
                </a:rPr>
                <a:t>Separates HTML and JS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>
                  <a:solidFill>
                    <a:srgbClr val="282D34"/>
                  </a:solidFill>
                  <a:latin typeface="Arial"/>
                </a:rPr>
                <a:t>Supports reusable modules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44A838E-527C-EA42-D01F-FA93FB8C0BA1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US" sz="2800" dirty="0"/>
                <a:t>External</a:t>
              </a:r>
            </a:p>
          </p:txBody>
        </p:sp>
      </p:grpSp>
      <p:sp>
        <p:nvSpPr>
          <p:cNvPr id="52" name="Footer Placeholder 6">
            <a:extLst>
              <a:ext uri="{FF2B5EF4-FFF2-40B4-BE49-F238E27FC236}">
                <a16:creationId xmlns:a16="http://schemas.microsoft.com/office/drawing/2014/main" id="{D4DA65CB-005C-2520-B68F-235F8175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7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CFFB-1009-3E29-1306-9F121E8C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D2639F2D-4531-220A-0D44-31875B83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37471"/>
            <a:ext cx="11277600" cy="51652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DC3DC159-086D-2664-AFFD-4A8BB4442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492E104-03A4-3877-674A-966AFD40A7B1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Output</a:t>
            </a:r>
          </a:p>
        </p:txBody>
      </p:sp>
      <p:sp>
        <p:nvSpPr>
          <p:cNvPr id="27" name="Slide Number Placeholder 7">
            <a:extLst>
              <a:ext uri="{FF2B5EF4-FFF2-40B4-BE49-F238E27FC236}">
                <a16:creationId xmlns:a16="http://schemas.microsoft.com/office/drawing/2014/main" id="{85AF6A27-68D7-CB10-3E31-6FB03F6D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28" name="Date Placeholder 8">
            <a:extLst>
              <a:ext uri="{FF2B5EF4-FFF2-40B4-BE49-F238E27FC236}">
                <a16:creationId xmlns:a16="http://schemas.microsoft.com/office/drawing/2014/main" id="{106A21E6-68BE-65FA-63E4-8B1D3E8EF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noProof="0" smtClean="0"/>
              <a:pPr/>
              <a:t>9/3/2026</a:t>
            </a:fld>
            <a:endParaRPr lang="en-US" noProof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560835-655C-E526-2FAA-BCDD29A85FE4}"/>
              </a:ext>
            </a:extLst>
          </p:cNvPr>
          <p:cNvGrpSpPr/>
          <p:nvPr/>
        </p:nvGrpSpPr>
        <p:grpSpPr>
          <a:xfrm>
            <a:off x="360957" y="1383766"/>
            <a:ext cx="5317918" cy="4224715"/>
            <a:chOff x="5045952" y="2185060"/>
            <a:chExt cx="4954587" cy="4224715"/>
          </a:xfrm>
        </p:grpSpPr>
        <p:sp>
          <p:nvSpPr>
            <p:cNvPr id="30" name="Triangle 51">
              <a:extLst>
                <a:ext uri="{FF2B5EF4-FFF2-40B4-BE49-F238E27FC236}">
                  <a16:creationId xmlns:a16="http://schemas.microsoft.com/office/drawing/2014/main" id="{F8F5CE38-3980-DBED-D715-325E1D9D1BEA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Triangle 48">
              <a:extLst>
                <a:ext uri="{FF2B5EF4-FFF2-40B4-BE49-F238E27FC236}">
                  <a16:creationId xmlns:a16="http://schemas.microsoft.com/office/drawing/2014/main" id="{02CA176F-5DF1-03FF-047C-EBFF46B6D6CD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4FD749B-78A5-B218-5873-5A040C4F25C2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IN" sz="1600" dirty="0" err="1">
                  <a:solidFill>
                    <a:srgbClr val="282D34"/>
                  </a:solidFill>
                  <a:latin typeface="Arial"/>
                </a:rPr>
                <a:t>textContent</a:t>
              </a:r>
              <a:r>
                <a:rPr lang="en-IN" sz="1600" dirty="0">
                  <a:solidFill>
                    <a:srgbClr val="282D34"/>
                  </a:solidFill>
                  <a:latin typeface="Arial"/>
                </a:rPr>
                <a:t> / </a:t>
              </a:r>
              <a:r>
                <a:rPr lang="en-IN" sz="1600" dirty="0" err="1">
                  <a:solidFill>
                    <a:srgbClr val="282D34"/>
                  </a:solidFill>
                  <a:latin typeface="Arial"/>
                </a:rPr>
                <a:t>innerHTML</a:t>
              </a:r>
              <a:endParaRPr lang="en-IN" sz="1600" dirty="0">
                <a:solidFill>
                  <a:srgbClr val="282D34"/>
                </a:solidFill>
                <a:latin typeface="Arial"/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IN" sz="1600" dirty="0">
                  <a:solidFill>
                    <a:srgbClr val="282D34"/>
                  </a:solidFill>
                  <a:latin typeface="Arial"/>
                </a:rPr>
                <a:t>alert()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IN" sz="1600" dirty="0">
                  <a:solidFill>
                    <a:srgbClr val="282D34"/>
                  </a:solidFill>
                  <a:latin typeface="Arial"/>
                </a:rPr>
                <a:t>console.log()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IN" sz="1600" dirty="0" err="1">
                  <a:solidFill>
                    <a:srgbClr val="282D34"/>
                  </a:solidFill>
                  <a:latin typeface="Arial"/>
                </a:rPr>
                <a:t>window.print</a:t>
              </a:r>
              <a:r>
                <a:rPr lang="en-IN" sz="1600" dirty="0">
                  <a:solidFill>
                    <a:srgbClr val="282D34"/>
                  </a:solidFill>
                  <a:latin typeface="Arial"/>
                </a:rPr>
                <a:t>()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3CBA1E3-8F02-6B0A-6E15-0A89B1CC6290}"/>
                </a:ext>
              </a:extLst>
            </p:cNvPr>
            <p:cNvSpPr/>
            <p:nvPr/>
          </p:nvSpPr>
          <p:spPr>
            <a:xfrm>
              <a:off x="5045952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>
                <a:defRPr sz="1800" b="1">
                  <a:solidFill>
                    <a:srgbClr val="265CA0"/>
                  </a:solidFill>
                  <a:latin typeface="Arial"/>
                </a:defRPr>
              </a:pP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8B0A5A-7912-6A1C-CF79-E0A9A14D8ACB}"/>
              </a:ext>
            </a:extLst>
          </p:cNvPr>
          <p:cNvGrpSpPr/>
          <p:nvPr/>
        </p:nvGrpSpPr>
        <p:grpSpPr>
          <a:xfrm>
            <a:off x="6646606" y="1383766"/>
            <a:ext cx="5085794" cy="4224715"/>
            <a:chOff x="5049837" y="2185060"/>
            <a:chExt cx="4954587" cy="4224715"/>
          </a:xfrm>
        </p:grpSpPr>
        <p:sp>
          <p:nvSpPr>
            <p:cNvPr id="35" name="Triangle 51">
              <a:extLst>
                <a:ext uri="{FF2B5EF4-FFF2-40B4-BE49-F238E27FC236}">
                  <a16:creationId xmlns:a16="http://schemas.microsoft.com/office/drawing/2014/main" id="{D4627AE5-D4EF-4C49-B1B3-E8F707BCF276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6" name="Triangle 48">
              <a:extLst>
                <a:ext uri="{FF2B5EF4-FFF2-40B4-BE49-F238E27FC236}">
                  <a16:creationId xmlns:a16="http://schemas.microsoft.com/office/drawing/2014/main" id="{B4D7A83C-DA70-06A2-E0A0-56AC96F6CAEE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A22B1F-BE13-5376-B3BD-1BB0C6217E0F}"/>
                </a:ext>
              </a:extLst>
            </p:cNvPr>
            <p:cNvSpPr/>
            <p:nvPr/>
          </p:nvSpPr>
          <p:spPr>
            <a:xfrm>
              <a:off x="5230813" y="2973859"/>
              <a:ext cx="4593600" cy="3435916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 marL="285750" indent="-285750">
                <a:spcAft>
                  <a:spcPts val="9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/>
                <a:t>Use </a:t>
              </a:r>
              <a:r>
                <a:rPr lang="en-US" sz="1600" b="1" dirty="0"/>
                <a:t>console.log() </a:t>
              </a:r>
              <a:r>
                <a:rPr lang="en-US" sz="1600" dirty="0"/>
                <a:t>while learning/debugging.</a:t>
              </a:r>
            </a:p>
            <a:p>
              <a:pPr marL="285750" indent="-285750">
                <a:spcAft>
                  <a:spcPts val="9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dirty="0"/>
                <a:t>Prefer DOM updates for user-facing output.</a:t>
              </a:r>
            </a:p>
            <a:p>
              <a:pPr marL="285750" indent="-285750">
                <a:spcAft>
                  <a:spcPts val="900"/>
                </a:spcAft>
                <a:buFont typeface="Arial" panose="020B0604020202020204" pitchFamily="34" charset="0"/>
                <a:buChar char="•"/>
                <a:defRPr sz="1500">
                  <a:solidFill>
                    <a:srgbClr val="282D34"/>
                  </a:solidFill>
                  <a:latin typeface="Arial"/>
                </a:defRPr>
              </a:pPr>
              <a:r>
                <a:rPr lang="en-US" sz="1600" b="1" dirty="0" err="1"/>
                <a:t>document.write</a:t>
              </a:r>
              <a:r>
                <a:rPr lang="en-US" sz="1600" b="1" dirty="0"/>
                <a:t>() </a:t>
              </a:r>
              <a:r>
                <a:rPr lang="en-US" sz="1600" dirty="0"/>
                <a:t>is mainly useful for demos/testing and should not be used for normal application UI.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20C4148-CAC6-D77B-D8EC-2E9F765AE072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sz="2800" dirty="0"/>
            </a:p>
          </p:txBody>
        </p:sp>
      </p:grpSp>
      <p:sp>
        <p:nvSpPr>
          <p:cNvPr id="39" name="Footer Placeholder 6">
            <a:extLst>
              <a:ext uri="{FF2B5EF4-FFF2-40B4-BE49-F238E27FC236}">
                <a16:creationId xmlns:a16="http://schemas.microsoft.com/office/drawing/2014/main" id="{141B4926-4076-77CF-939F-F7A16B95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1085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C162-2D7E-92D3-B4A9-0806B34A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36F012-F8D0-34D8-C386-7CC7454FA3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B44F3-61CA-7214-EA9F-EC0996675C5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77340-8B6F-A10F-AFF0-0CDA96D0390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74B1A5-1904-646A-8B4F-EC47BF917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1929759"/>
          </a:xfrm>
        </p:spPr>
        <p:txBody>
          <a:bodyPr/>
          <a:lstStyle/>
          <a:p>
            <a:r>
              <a:rPr lang="en-IN" dirty="0"/>
              <a:t>Core Concepts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23A94-AD49-0624-C6DE-1BFD7DC3451F}"/>
              </a:ext>
            </a:extLst>
          </p:cNvPr>
          <p:cNvSpPr txBox="1"/>
          <p:nvPr/>
        </p:nvSpPr>
        <p:spPr>
          <a:xfrm>
            <a:off x="914400" y="3084201"/>
            <a:ext cx="10890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7F0FA"/>
                </a:solidFill>
                <a:latin typeface="Arial"/>
              </a:defRPr>
            </a:pPr>
            <a:r>
              <a:rPr lang="en-US" sz="2800" dirty="0"/>
              <a:t>Functionalities &amp; Fundamentals</a:t>
            </a:r>
          </a:p>
        </p:txBody>
      </p:sp>
      <p:pic>
        <p:nvPicPr>
          <p:cNvPr id="9" name="Graphic 8" descr="Apple with solid fill">
            <a:extLst>
              <a:ext uri="{FF2B5EF4-FFF2-40B4-BE49-F238E27FC236}">
                <a16:creationId xmlns:a16="http://schemas.microsoft.com/office/drawing/2014/main" id="{06359752-835B-4E8B-FC43-FB9836947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2952" y="4521139"/>
            <a:ext cx="1255776" cy="1255776"/>
          </a:xfrm>
          <a:prstGeom prst="rect">
            <a:avLst/>
          </a:prstGeom>
        </p:spPr>
      </p:pic>
      <p:pic>
        <p:nvPicPr>
          <p:cNvPr id="11" name="Graphic 10" descr="Apple outline">
            <a:extLst>
              <a:ext uri="{FF2B5EF4-FFF2-40B4-BE49-F238E27FC236}">
                <a16:creationId xmlns:a16="http://schemas.microsoft.com/office/drawing/2014/main" id="{8EDE81FA-2E70-5FEC-6AE9-9271CB352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616" y="4521139"/>
            <a:ext cx="1255776" cy="12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9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CDA0-D03A-2568-4E4B-3375F4D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9EAF-0D9F-D6DA-344C-D46CDA9D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</a:t>
            </a:r>
            <a:br>
              <a:rPr lang="en-IN" dirty="0"/>
            </a:br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07FD4E5E-F397-0743-7042-ADE0CE8EA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  <a:latin typeface="Arial"/>
              </a:rPr>
              <a:t>Variables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b="1" dirty="0"/>
              <a:t>const</a:t>
            </a:r>
            <a:r>
              <a:rPr lang="en-US" dirty="0"/>
              <a:t> — binding cannot be reassigned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b="1" dirty="0"/>
              <a:t>let </a:t>
            </a:r>
            <a:r>
              <a:rPr lang="en-US" dirty="0"/>
              <a:t>&amp;</a:t>
            </a:r>
            <a:r>
              <a:rPr lang="en-US" b="1" dirty="0"/>
              <a:t> var  </a:t>
            </a:r>
            <a:r>
              <a:rPr lang="en-US" dirty="0"/>
              <a:t>— binding can be reassigned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var – function-scoped (legacy)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let &amp; const- block-scoped</a:t>
            </a:r>
            <a:endParaRPr lang="en-IN" dirty="0"/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  <a:p>
            <a:endParaRPr lang="en-IN" dirty="0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911DAD33-3235-A3D4-7E7B-65420DB5F2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Data types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1500" b="1" dirty="0">
                <a:solidFill>
                  <a:srgbClr val="282D34"/>
                </a:solidFill>
                <a:latin typeface="Arial"/>
              </a:rPr>
              <a:t>Primitive values</a:t>
            </a:r>
            <a:r>
              <a:rPr lang="en-US" sz="1500" dirty="0">
                <a:solidFill>
                  <a:srgbClr val="282D34"/>
                </a:solidFill>
                <a:latin typeface="Arial"/>
              </a:rPr>
              <a:t>: string, number, </a:t>
            </a:r>
            <a:r>
              <a:rPr lang="en-US" sz="1500" dirty="0" err="1">
                <a:solidFill>
                  <a:srgbClr val="282D34"/>
                </a:solidFill>
                <a:latin typeface="Arial"/>
              </a:rPr>
              <a:t>bigint</a:t>
            </a:r>
            <a:r>
              <a:rPr lang="en-US" sz="1500" dirty="0">
                <a:solidFill>
                  <a:srgbClr val="282D34"/>
                </a:solidFill>
                <a:latin typeface="Arial"/>
              </a:rPr>
              <a:t>, </a:t>
            </a:r>
            <a:r>
              <a:rPr lang="en-US" sz="1500" dirty="0" err="1">
                <a:solidFill>
                  <a:srgbClr val="282D34"/>
                </a:solidFill>
                <a:latin typeface="Arial"/>
              </a:rPr>
              <a:t>boolean</a:t>
            </a:r>
            <a:r>
              <a:rPr lang="en-US" sz="1500" dirty="0">
                <a:solidFill>
                  <a:srgbClr val="282D34"/>
                </a:solidFill>
                <a:latin typeface="Arial"/>
              </a:rPr>
              <a:t>, undefined, null, symbol.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Objects are reference values; </a:t>
            </a:r>
            <a:r>
              <a:rPr lang="en-US" b="1" dirty="0"/>
              <a:t>arrays</a:t>
            </a:r>
            <a:r>
              <a:rPr lang="en-US" dirty="0"/>
              <a:t> and </a:t>
            </a:r>
            <a:r>
              <a:rPr lang="en-US" b="1" dirty="0"/>
              <a:t>functions</a:t>
            </a:r>
            <a:r>
              <a:rPr lang="en-US" dirty="0"/>
              <a:t> are also objects.</a:t>
            </a:r>
            <a:endParaRPr lang="en-US" sz="1500" dirty="0">
              <a:solidFill>
                <a:srgbClr val="282D34"/>
              </a:solidFill>
              <a:latin typeface="Arial"/>
            </a:endParaRP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1500" dirty="0" err="1">
                <a:solidFill>
                  <a:srgbClr val="282D34"/>
                </a:solidFill>
                <a:latin typeface="Arial"/>
              </a:rPr>
              <a:t>typeof</a:t>
            </a:r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5660D435-CB34-1C1B-4ACE-7FDE47CEB15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Operators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Arithmetic: + - * / % **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Comparison: === !== &gt; &lt; &gt;= &lt;=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Logical: &amp;&amp; || !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Assignment: = += -= *= /=</a:t>
            </a:r>
          </a:p>
          <a:p>
            <a:endParaRPr lang="en-IN" dirty="0"/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EFECA5F7-9402-FABE-9E1A-2F05F473560C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BE3AF77-0813-FEA1-539E-4080A675186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99E4C8-F2ED-84AB-9A90-575B56475C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968CD8A-2C0C-176E-97AB-1905417032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01F0E8-590F-C0FF-68F6-CA93CFF7142C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8D332-38D0-0474-FB59-FD305A69042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41" name="Rounded Rectangle 4">
            <a:extLst>
              <a:ext uri="{FF2B5EF4-FFF2-40B4-BE49-F238E27FC236}">
                <a16:creationId xmlns:a16="http://schemas.microsoft.com/office/drawing/2014/main" id="{39A259FB-04D1-76F3-79EC-0C2E7F120343}"/>
              </a:ext>
            </a:extLst>
          </p:cNvPr>
          <p:cNvSpPr/>
          <p:nvPr/>
        </p:nvSpPr>
        <p:spPr>
          <a:xfrm>
            <a:off x="4745736" y="3852386"/>
            <a:ext cx="2423160" cy="109728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800941-3F70-192B-B773-1BC0C4E6E1CA}"/>
              </a:ext>
            </a:extLst>
          </p:cNvPr>
          <p:cNvSpPr txBox="1"/>
          <p:nvPr/>
        </p:nvSpPr>
        <p:spPr>
          <a:xfrm>
            <a:off x="4818092" y="4016978"/>
            <a:ext cx="23178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let name = "Alex";</a:t>
            </a:r>
            <a:br/>
            <a:r>
              <a:t>let age = 22;</a:t>
            </a:r>
            <a:br/>
            <a:r>
              <a:t>let active = true;</a:t>
            </a:r>
            <a:br/>
            <a:r>
              <a:t>let value;</a:t>
            </a:r>
            <a:br/>
            <a:r>
              <a:t>let nothing = null;</a:t>
            </a:r>
          </a:p>
        </p:txBody>
      </p:sp>
    </p:spTree>
    <p:extLst>
      <p:ext uri="{BB962C8B-B14F-4D97-AF65-F5344CB8AC3E}">
        <p14:creationId xmlns:p14="http://schemas.microsoft.com/office/powerpoint/2010/main" val="38013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F066-5D89-3D7A-A059-9ED89089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7DFD7F3-C63C-42EE-315E-21A6F72E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AF80DC3-01E7-E281-A963-9B18F3DB641C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Base</a:t>
            </a:r>
            <a:br>
              <a:rPr lang="en-IN" dirty="0"/>
            </a:br>
            <a:endParaRPr lang="en-US" dirty="0"/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8231789B-CFBE-FCB3-179F-BB6C623B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3638549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800" dirty="0">
                <a:solidFill>
                  <a:schemeClr val="accent1"/>
                </a:solidFill>
              </a:rPr>
              <a:t>Conditions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lang="en-US" sz="2000" b="1" dirty="0"/>
              <a:t>if / else </a:t>
            </a:r>
            <a:r>
              <a:rPr lang="en-US" sz="2000" dirty="0"/>
              <a:t>for branching.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lang="en-US" sz="2000" b="1" dirty="0"/>
              <a:t>switch??</a:t>
            </a:r>
            <a:endParaRPr lang="en-US" sz="2000" dirty="0"/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lang="en-US" sz="2000" b="1" dirty="0"/>
              <a:t>ternary</a:t>
            </a: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082A008C-816A-60EE-75C6-A9FF7699D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5139" y="1371600"/>
            <a:ext cx="3640136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Loops &amp; Iterations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b="1" dirty="0"/>
              <a:t>for, while, break </a:t>
            </a:r>
            <a:r>
              <a:rPr lang="en-US" dirty="0"/>
              <a:t>(do while??)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b="1" dirty="0" err="1"/>
              <a:t>forEach</a:t>
            </a:r>
            <a:r>
              <a:rPr lang="en-US" b="1" dirty="0"/>
              <a:t>()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b="1" dirty="0"/>
              <a:t>map/filter/reduce </a:t>
            </a:r>
            <a:r>
              <a:rPr lang="en-US" dirty="0"/>
              <a:t>— transform data</a:t>
            </a:r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3F8B1EF1-9979-FF26-BF49-27AB988CC0FE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900"/>
              </a:spcAft>
              <a:buFont typeface="Arial" panose="020B0604020202020204" pitchFamily="34" charset="0"/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  <a:latin typeface="Arial"/>
              </a:rPr>
              <a:t>Functions</a:t>
            </a:r>
          </a:p>
          <a:p>
            <a:endParaRPr lang="en-IN" dirty="0"/>
          </a:p>
        </p:txBody>
      </p:sp>
      <p:sp>
        <p:nvSpPr>
          <p:cNvPr id="27" name="Subtitle 38">
            <a:extLst>
              <a:ext uri="{FF2B5EF4-FFF2-40B4-BE49-F238E27FC236}">
                <a16:creationId xmlns:a16="http://schemas.microsoft.com/office/drawing/2014/main" id="{FB228947-6C6C-A063-C00D-8C769FE7282B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275139" y="5763600"/>
            <a:ext cx="3639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D1269AAB-2C4D-BC3A-5443-FAB260C6C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94664" y="5763600"/>
            <a:ext cx="3639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B85A288E-75D5-9337-55D3-94A3365A2885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527BE851-8A1A-0F11-D9BB-E1FB4EF3F847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365EA330-8995-2B7E-A08B-D0DEAD8FB54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AAD968-0CA6-B944-4FF5-A7340EE458DF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081DB0-BE85-1783-C002-2F518C110F94}"/>
              </a:ext>
            </a:extLst>
          </p:cNvPr>
          <p:cNvSpPr txBox="1"/>
          <p:nvPr/>
        </p:nvSpPr>
        <p:spPr>
          <a:xfrm>
            <a:off x="4818092" y="4016978"/>
            <a:ext cx="23178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let name = "Alex";</a:t>
            </a:r>
            <a:br>
              <a:rPr dirty="0"/>
            </a:br>
            <a:r>
              <a:rPr dirty="0"/>
              <a:t>let age = 22;</a:t>
            </a:r>
            <a:br>
              <a:rPr dirty="0"/>
            </a:br>
            <a:r>
              <a:rPr dirty="0"/>
              <a:t>let active = </a:t>
            </a:r>
            <a:r>
              <a:rPr dirty="0" err="1"/>
              <a:t>tue</a:t>
            </a:r>
            <a:r>
              <a:rPr dirty="0"/>
              <a:t>;</a:t>
            </a:r>
            <a:br>
              <a:rPr dirty="0"/>
            </a:br>
            <a:r>
              <a:rPr dirty="0"/>
              <a:t>let value;</a:t>
            </a:r>
            <a:br>
              <a:rPr dirty="0"/>
            </a:br>
            <a:r>
              <a:rPr dirty="0"/>
              <a:t>let nothing = null;</a:t>
            </a:r>
          </a:p>
        </p:txBody>
      </p:sp>
      <p:sp>
        <p:nvSpPr>
          <p:cNvPr id="37" name="Rounded Rectangle 3">
            <a:extLst>
              <a:ext uri="{FF2B5EF4-FFF2-40B4-BE49-F238E27FC236}">
                <a16:creationId xmlns:a16="http://schemas.microsoft.com/office/drawing/2014/main" id="{5AC8382C-4C47-03AC-7913-3D8B0B7220CD}"/>
              </a:ext>
            </a:extLst>
          </p:cNvPr>
          <p:cNvSpPr/>
          <p:nvPr/>
        </p:nvSpPr>
        <p:spPr>
          <a:xfrm>
            <a:off x="8385872" y="1765679"/>
            <a:ext cx="2879536" cy="2083945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8171FB-8513-4426-3D83-19454F3ED5FC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 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14765-1FCB-F437-0136-206B4F40FFF6}"/>
              </a:ext>
            </a:extLst>
          </p:cNvPr>
          <p:cNvSpPr txBox="1"/>
          <p:nvPr/>
        </p:nvSpPr>
        <p:spPr>
          <a:xfrm>
            <a:off x="8705088" y="4224189"/>
            <a:ext cx="2706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Global scope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Function scope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Block scope</a:t>
            </a:r>
          </a:p>
        </p:txBody>
      </p:sp>
    </p:spTree>
    <p:extLst>
      <p:ext uri="{BB962C8B-B14F-4D97-AF65-F5344CB8AC3E}">
        <p14:creationId xmlns:p14="http://schemas.microsoft.com/office/powerpoint/2010/main" val="287050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D514A-BE04-DCDF-FEB9-F245EB41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5F019BDA-9FF3-6710-15DA-91FBED7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0F65BEB-EE30-14DA-E4B0-7F7612FD4133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Base</a:t>
            </a:r>
            <a:br>
              <a:rPr lang="en-IN" dirty="0"/>
            </a:br>
            <a:endParaRPr lang="en-US" dirty="0"/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CFA3C31D-4DC6-BE4A-535A-5C7D0C1F9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3638549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sz="2400" dirty="0">
                <a:solidFill>
                  <a:schemeClr val="accent1"/>
                </a:solidFill>
                <a:latin typeface="Arial"/>
              </a:rPr>
              <a:t>Objects &amp; References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57281B19-3DDB-DC2E-BFB7-3E8CE81E6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5139" y="1371600"/>
            <a:ext cx="3640136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Arrays &amp; value methods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map() — transform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filter() — keep matches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reduce() — accumulate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find() — first match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some()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every()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includes()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A68102E2-FBC0-A935-A6C3-D4F5259476D7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900"/>
              </a:spcAft>
              <a:buFont typeface="Arial" panose="020B0604020202020204" pitchFamily="34" charset="0"/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  <a:latin typeface="Arial"/>
              </a:rPr>
              <a:t>Class &amp; </a:t>
            </a:r>
            <a:r>
              <a:rPr lang="en-US" sz="2400" dirty="0" err="1">
                <a:solidFill>
                  <a:schemeClr val="accent1"/>
                </a:solidFill>
                <a:latin typeface="Arial"/>
              </a:rPr>
              <a:t>prototyes</a:t>
            </a:r>
            <a:endParaRPr lang="en-US" sz="2400" dirty="0">
              <a:solidFill>
                <a:schemeClr val="accent1"/>
              </a:solidFill>
              <a:latin typeface="Arial"/>
            </a:endParaRPr>
          </a:p>
          <a:p>
            <a:endParaRPr lang="en-IN" dirty="0"/>
          </a:p>
        </p:txBody>
      </p:sp>
      <p:sp>
        <p:nvSpPr>
          <p:cNvPr id="27" name="Subtitle 38">
            <a:extLst>
              <a:ext uri="{FF2B5EF4-FFF2-40B4-BE49-F238E27FC236}">
                <a16:creationId xmlns:a16="http://schemas.microsoft.com/office/drawing/2014/main" id="{407AE0F0-2695-658F-DF8E-E4C43C5423B3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275139" y="5763600"/>
            <a:ext cx="3639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3FE30A5F-8B05-8165-4445-7178E92079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94664" y="5763600"/>
            <a:ext cx="3639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95980565-6F62-30D0-8BE9-ADF48BB71831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F17D6CDD-3B15-22F7-6435-3D3F57F7D901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6550F6C2-81F6-D774-5749-748AC994F1C5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3CFC9F-A1AB-7F9F-8FB1-051C7891210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060ECD-7EB7-09CA-606B-5547AC580D6B}"/>
              </a:ext>
            </a:extLst>
          </p:cNvPr>
          <p:cNvSpPr txBox="1"/>
          <p:nvPr/>
        </p:nvSpPr>
        <p:spPr>
          <a:xfrm>
            <a:off x="4818092" y="4016978"/>
            <a:ext cx="23178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let name = "Alex";</a:t>
            </a:r>
            <a:br>
              <a:rPr dirty="0"/>
            </a:br>
            <a:r>
              <a:rPr dirty="0"/>
              <a:t>let age = 22;</a:t>
            </a:r>
            <a:br>
              <a:rPr dirty="0"/>
            </a:br>
            <a:r>
              <a:rPr dirty="0"/>
              <a:t>let active = </a:t>
            </a:r>
            <a:r>
              <a:rPr dirty="0" err="1"/>
              <a:t>tue</a:t>
            </a:r>
            <a:r>
              <a:rPr dirty="0"/>
              <a:t>;</a:t>
            </a:r>
            <a:br>
              <a:rPr dirty="0"/>
            </a:br>
            <a:r>
              <a:rPr dirty="0"/>
              <a:t>let value;</a:t>
            </a:r>
            <a:br>
              <a:rPr dirty="0"/>
            </a:br>
            <a:r>
              <a:rPr dirty="0"/>
              <a:t>let nothing = null;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BAD4E3-ADF7-FEE0-3ADA-F9C9F9B12235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99004E7D-E821-BA72-89AF-AA05543D6063}"/>
              </a:ext>
            </a:extLst>
          </p:cNvPr>
          <p:cNvSpPr/>
          <p:nvPr/>
        </p:nvSpPr>
        <p:spPr>
          <a:xfrm>
            <a:off x="456151" y="2057400"/>
            <a:ext cx="3351182" cy="3502152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2AF9F-2A29-4775-C692-E45AC2F7CFC7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239A2B7-D23A-8A22-B6D0-72E7F9971CDA}"/>
              </a:ext>
            </a:extLst>
          </p:cNvPr>
          <p:cNvSpPr/>
          <p:nvPr/>
        </p:nvSpPr>
        <p:spPr>
          <a:xfrm>
            <a:off x="8229600" y="2057400"/>
            <a:ext cx="3017520" cy="320040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0E472-F1C6-6D09-3883-9AA2CBC31866}"/>
              </a:ext>
            </a:extLst>
          </p:cNvPr>
          <p:cNvSpPr txBox="1"/>
          <p:nvPr/>
        </p:nvSpPr>
        <p:spPr>
          <a:xfrm>
            <a:off x="8366761" y="2240280"/>
            <a:ext cx="25916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Employee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</p:spTree>
    <p:extLst>
      <p:ext uri="{BB962C8B-B14F-4D97-AF65-F5344CB8AC3E}">
        <p14:creationId xmlns:p14="http://schemas.microsoft.com/office/powerpoint/2010/main" val="102999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Exercise 1 — Employee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Given an array of employee objects, search by name.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Filter only active employees.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Return names sorted alphabetically.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Render the result into the DOM.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Bonus: show a 'No results'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10515600" cy="12344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736592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result = employees</a:t>
            </a:r>
            <a:br>
              <a:rPr dirty="0"/>
            </a:br>
            <a:r>
              <a:rPr dirty="0"/>
              <a:t>  .filter(e =&gt; </a:t>
            </a:r>
            <a:r>
              <a:rPr dirty="0" err="1"/>
              <a:t>e.active</a:t>
            </a:r>
            <a:r>
              <a:rPr dirty="0"/>
              <a:t> &amp;&amp; </a:t>
            </a:r>
            <a:r>
              <a:rPr dirty="0" err="1"/>
              <a:t>e.name.toLowerCase</a:t>
            </a:r>
            <a:r>
              <a:rPr dirty="0"/>
              <a:t>().includes(query))</a:t>
            </a:r>
            <a:br>
              <a:rPr dirty="0"/>
            </a:br>
            <a:r>
              <a:rPr dirty="0"/>
              <a:t>  .map(e =&gt; e.name)</a:t>
            </a:r>
            <a:br>
              <a:rPr dirty="0"/>
            </a:br>
            <a:r>
              <a:rPr dirty="0"/>
              <a:t>  .sort();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93CE5-874B-A914-555C-190851B3414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2C7A5-B17E-D042-1C6D-1618A67E84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B19E9-6123-6013-4513-685204F901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448D80-4DD2-2F5C-EAE5-92AAA711256A}"/>
              </a:ext>
            </a:extLst>
          </p:cNvPr>
          <p:cNvSpPr txBox="1"/>
          <p:nvPr/>
        </p:nvSpPr>
        <p:spPr>
          <a:xfrm>
            <a:off x="502920" y="649224"/>
            <a:ext cx="111008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application should:</a:t>
            </a:r>
          </a:p>
          <a:p>
            <a:pPr>
              <a:buFont typeface="+mj-lt"/>
              <a:buAutoNum type="arabicPeriod"/>
            </a:pPr>
            <a:r>
              <a:rPr lang="en-US" dirty="0"/>
              <a:t>Maintain information for </a:t>
            </a:r>
            <a:r>
              <a:rPr lang="en-US" b="1" dirty="0"/>
              <a:t>3 employees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Employee Name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Salary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Performance Score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a </a:t>
            </a:r>
            <a:r>
              <a:rPr lang="en-US" b="1" dirty="0"/>
              <a:t>10% bonus</a:t>
            </a:r>
            <a:r>
              <a:rPr lang="en-US" dirty="0"/>
              <a:t> for each employee.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the </a:t>
            </a:r>
            <a:r>
              <a:rPr lang="en-US" b="1" dirty="0"/>
              <a:t>total salary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Total Salary = Salary + Bonus</a:t>
            </a:r>
          </a:p>
          <a:p>
            <a:pPr lvl="3"/>
            <a:r>
              <a:rPr lang="en-US" dirty="0"/>
              <a:t>Determine the employee's performance category based on their performance score:</a:t>
            </a:r>
            <a:br>
              <a:rPr lang="en-US" dirty="0"/>
            </a:br>
            <a:r>
              <a:rPr lang="en-US" dirty="0"/>
              <a:t>80-100 -&gt; Excellent</a:t>
            </a:r>
            <a:br>
              <a:rPr lang="en-US" dirty="0"/>
            </a:br>
            <a:r>
              <a:rPr lang="en-US" dirty="0"/>
              <a:t>60-79 -&gt; Good</a:t>
            </a:r>
            <a:br>
              <a:rPr lang="en-US" dirty="0"/>
            </a:br>
            <a:r>
              <a:rPr lang="en-US" dirty="0"/>
              <a:t>40-59 -&gt; Average</a:t>
            </a:r>
            <a:br>
              <a:rPr lang="en-US" dirty="0"/>
            </a:br>
            <a:r>
              <a:rPr lang="en-US" dirty="0"/>
              <a:t>0-49 -&gt; Needs Improvement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Process </a:t>
            </a:r>
            <a:r>
              <a:rPr lang="en-US" b="1" dirty="0"/>
              <a:t>all employees using a loop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function</a:t>
            </a:r>
            <a:r>
              <a:rPr lang="en-US" dirty="0"/>
              <a:t> to calculate and return the employee's salary and performance details.</a:t>
            </a:r>
          </a:p>
          <a:p>
            <a:pPr>
              <a:buFont typeface="+mj-lt"/>
              <a:buAutoNum type="arabicPeriod"/>
            </a:pPr>
            <a:r>
              <a:rPr lang="en-US" dirty="0"/>
              <a:t>Display the final results </a:t>
            </a:r>
            <a:r>
              <a:rPr lang="en-US" b="1" dirty="0"/>
              <a:t>directly on the webpage</a:t>
            </a:r>
            <a:r>
              <a:rPr lang="en-US" dirty="0"/>
              <a:t>, not only in the browser console.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010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D973-EB24-557F-A8DB-109DD63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time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902E74-D0EC-53EE-67CE-49C790A8C9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Using GPT frequently??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Type “Roast me with my chat history” &amp; share the funny ones.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6395DD7-EF54-2ED6-D7A7-C948CE0EFB9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87EA55-448D-1E60-29D9-51272ADB12E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BE6553-E96E-1F00-8C65-5406366B48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78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03E1-E1A8-FE74-C2A5-DA8B011E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545FE1ED-5497-7D4C-C2F0-3F50E6F8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14620CA-B1ED-362F-E021-2726365169E9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Base</a:t>
            </a:r>
            <a:br>
              <a:rPr lang="en-IN" dirty="0"/>
            </a:br>
            <a:endParaRPr lang="en-US" dirty="0"/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46447529-0F51-D72A-A2AC-BCD14AA09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3638549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sz="2400" dirty="0">
                <a:solidFill>
                  <a:schemeClr val="accent1"/>
                </a:solidFill>
                <a:latin typeface="Arial"/>
              </a:rPr>
              <a:t>Modules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64F64FBF-C15F-8A2D-EE85-F64F138F3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286" y="1371600"/>
            <a:ext cx="3882989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DOM Manipulation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61571138-B24D-6171-6B2C-D9F7B1CD7DC4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Subtitle 38">
            <a:extLst>
              <a:ext uri="{FF2B5EF4-FFF2-40B4-BE49-F238E27FC236}">
                <a16:creationId xmlns:a16="http://schemas.microsoft.com/office/drawing/2014/main" id="{A896A1BE-4CFA-D233-9607-6DD37ED210B9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275139" y="5763600"/>
            <a:ext cx="3639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793A19DF-B4CE-6439-A814-C663FF8A06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94664" y="5763600"/>
            <a:ext cx="3639600" cy="180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03B14691-AC3E-44F1-9EA7-A331FD111276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E1EAF1D3-0C87-9334-812A-C7D388248EBB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52A216-1F56-21ED-2794-D01792ACF333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60E820-FE93-C808-8977-1A44BF93B85A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1F2E6-F7C8-CD9E-9FBF-DCA83F85E7D5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9086-FF20-1DA3-0F6F-B6D06B40C90D}"/>
              </a:ext>
            </a:extLst>
          </p:cNvPr>
          <p:cNvSpPr txBox="1"/>
          <p:nvPr/>
        </p:nvSpPr>
        <p:spPr>
          <a:xfrm>
            <a:off x="8366760" y="2240280"/>
            <a:ext cx="3365639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dirty="0"/>
              <a:t>class </a:t>
            </a:r>
            <a:r>
              <a:rPr dirty="0" err="1"/>
              <a:t>Employ</a:t>
            </a:r>
            <a:r>
              <a:rPr lang="en-US" dirty="0" err="1"/>
              <a:t>querySelector</a:t>
            </a:r>
            <a:r>
              <a:rPr lang="en-US" dirty="0"/>
              <a:t>() uses CSS selectors.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lang="en-US" dirty="0" err="1"/>
              <a:t>textContent</a:t>
            </a:r>
            <a:r>
              <a:rPr lang="en-US" dirty="0"/>
              <a:t> is appropriate when inserting text.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  <a:latin typeface="Arial"/>
              </a:defRPr>
            </a:pPr>
            <a:r>
              <a:rPr lang="en-US" dirty="0" err="1"/>
              <a:t>classList</a:t>
            </a:r>
            <a:r>
              <a:rPr lang="en-US" dirty="0"/>
              <a:t> is useful for UI state changes.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250B9F9-A237-EB19-D9BE-3C5DAB9F6E1E}"/>
              </a:ext>
            </a:extLst>
          </p:cNvPr>
          <p:cNvSpPr/>
          <p:nvPr/>
        </p:nvSpPr>
        <p:spPr>
          <a:xfrm>
            <a:off x="456151" y="1883664"/>
            <a:ext cx="3025136" cy="2950272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99CEA-774A-B801-425C-E46C10E333C6}"/>
              </a:ext>
            </a:extLst>
          </p:cNvPr>
          <p:cNvSpPr txBox="1"/>
          <p:nvPr/>
        </p:nvSpPr>
        <p:spPr>
          <a:xfrm>
            <a:off x="684752" y="2014632"/>
            <a:ext cx="289360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// employee.js</a:t>
            </a:r>
            <a:br>
              <a:rPr dirty="0"/>
            </a:br>
            <a:r>
              <a:rPr dirty="0"/>
              <a:t>export class Employee { /* ... */ }</a:t>
            </a:r>
            <a:br>
              <a:rPr dirty="0"/>
            </a:br>
            <a:br>
              <a:rPr dirty="0"/>
            </a:br>
            <a:r>
              <a:rPr dirty="0"/>
              <a:t>// app.js</a:t>
            </a:r>
            <a:br>
              <a:rPr dirty="0"/>
            </a:br>
            <a:r>
              <a:rPr dirty="0"/>
              <a:t>import { Employee } from "./employee.js";</a:t>
            </a:r>
            <a:br>
              <a:rPr dirty="0"/>
            </a:br>
            <a:br>
              <a:rPr dirty="0"/>
            </a:br>
            <a:r>
              <a:rPr dirty="0"/>
              <a:t>const employee = new Employee("Alex");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3F5CC-325F-B3A0-9894-1C12D082E6B7}"/>
              </a:ext>
            </a:extLst>
          </p:cNvPr>
          <p:cNvSpPr txBox="1"/>
          <p:nvPr/>
        </p:nvSpPr>
        <p:spPr>
          <a:xfrm>
            <a:off x="570271" y="4964904"/>
            <a:ext cx="3025136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Modules make dependencies explicit.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Keep modules focused &amp; expose only what other modules need.</a:t>
            </a:r>
            <a:endParaRPr lang="en-IN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10CF358A-AC15-9750-2FD1-EAD022A2EC76}"/>
              </a:ext>
            </a:extLst>
          </p:cNvPr>
          <p:cNvSpPr/>
          <p:nvPr/>
        </p:nvSpPr>
        <p:spPr>
          <a:xfrm>
            <a:off x="4056984" y="1891840"/>
            <a:ext cx="3921324" cy="2810873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27ED0-9603-45FD-4FEE-6E1D44C17158}"/>
              </a:ext>
            </a:extLst>
          </p:cNvPr>
          <p:cNvSpPr txBox="1"/>
          <p:nvPr/>
        </p:nvSpPr>
        <p:spPr>
          <a:xfrm>
            <a:off x="4056984" y="2056432"/>
            <a:ext cx="3707793" cy="238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status = </a:t>
            </a:r>
            <a:r>
              <a:rPr dirty="0" err="1"/>
              <a:t>document.querySelector</a:t>
            </a:r>
            <a:r>
              <a:rPr dirty="0"/>
              <a:t>("#status");</a:t>
            </a:r>
            <a:br>
              <a:rPr dirty="0"/>
            </a:b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("#save");</a:t>
            </a:r>
            <a:br>
              <a:rPr dirty="0"/>
            </a:br>
            <a:br>
              <a:rPr dirty="0"/>
            </a:br>
            <a:r>
              <a:rPr dirty="0" err="1"/>
              <a:t>button.addEventListener</a:t>
            </a:r>
            <a:r>
              <a:rPr dirty="0"/>
              <a:t>("click", () =&gt; {</a:t>
            </a:r>
            <a:br>
              <a:rPr dirty="0"/>
            </a:br>
            <a:r>
              <a:rPr dirty="0"/>
              <a:t>  </a:t>
            </a:r>
            <a:r>
              <a:rPr dirty="0" err="1"/>
              <a:t>status.textContent</a:t>
            </a:r>
            <a:r>
              <a:rPr dirty="0"/>
              <a:t> = "Saved";</a:t>
            </a:r>
            <a:br>
              <a:rPr dirty="0"/>
            </a:br>
            <a:r>
              <a:rPr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7079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4871-2BC9-1DC1-FC37-9A9E5F41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4546C84-F42D-B3ED-2365-1766BAEC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48AB97C-00BD-1524-2C54-140ED0FE5A28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Base</a:t>
            </a:r>
            <a:br>
              <a:rPr lang="en-IN" dirty="0"/>
            </a:br>
            <a:endParaRPr lang="en-US" dirty="0"/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9F02148A-0003-2AF5-E3DD-784B73EB8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671" y="1284826"/>
            <a:ext cx="3638549" cy="4675813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sz="2400" dirty="0">
                <a:solidFill>
                  <a:schemeClr val="accent1"/>
                </a:solidFill>
                <a:latin typeface="Arial"/>
              </a:rPr>
              <a:t>Events &amp; Event Bubbling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IN" sz="2400" dirty="0">
              <a:solidFill>
                <a:schemeClr val="accent1"/>
              </a:solidFill>
              <a:latin typeface="Arial"/>
            </a:endParaRP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C6C3782B-DFDE-B476-D8C0-75E327FA1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8955" y="1284826"/>
            <a:ext cx="4504986" cy="4392000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sz="2400" dirty="0">
                <a:solidFill>
                  <a:schemeClr val="accent1"/>
                </a:solidFill>
              </a:rPr>
              <a:t>Event propagation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F1E65869-6F17-37EA-74A9-6FE6D1AB3FA6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02CDADD5-C1DF-1FB1-0E71-80592AA7782C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7D930D61-72A2-7EA8-ADF0-BF8FAC8B12E8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C62BAC-750B-361A-3C5E-3EC2C7196D3F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2BFF34-80CA-2474-CC32-90684A2A1897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A6434-B625-ADEE-5DFF-FFDD18925300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894E-5A38-BA78-CFC2-F70C259CE21C}"/>
              </a:ext>
            </a:extLst>
          </p:cNvPr>
          <p:cNvSpPr txBox="1"/>
          <p:nvPr/>
        </p:nvSpPr>
        <p:spPr>
          <a:xfrm>
            <a:off x="8366761" y="2240280"/>
            <a:ext cx="2591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Employee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4B834-A324-E0E2-CA3C-C757726A4914}"/>
              </a:ext>
            </a:extLst>
          </p:cNvPr>
          <p:cNvSpPr txBox="1"/>
          <p:nvPr/>
        </p:nvSpPr>
        <p:spPr>
          <a:xfrm>
            <a:off x="7132002" y="1969657"/>
            <a:ext cx="37314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status = </a:t>
            </a:r>
            <a:r>
              <a:rPr dirty="0" err="1"/>
              <a:t>document.querySelector</a:t>
            </a:r>
            <a:r>
              <a:rPr dirty="0"/>
              <a:t>("#status");</a:t>
            </a:r>
            <a:br>
              <a:rPr dirty="0"/>
            </a:b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("#save");</a:t>
            </a:r>
            <a:br>
              <a:rPr dirty="0"/>
            </a:br>
            <a:br>
              <a:rPr dirty="0"/>
            </a:br>
            <a:r>
              <a:rPr dirty="0" err="1"/>
              <a:t>button.addEventListener</a:t>
            </a:r>
            <a:r>
              <a:rPr dirty="0"/>
              <a:t>("click", () =&gt; {</a:t>
            </a:r>
            <a:br>
              <a:rPr dirty="0"/>
            </a:br>
            <a:r>
              <a:rPr dirty="0"/>
              <a:t>  </a:t>
            </a:r>
            <a:r>
              <a:rPr dirty="0" err="1"/>
              <a:t>status.textContent</a:t>
            </a:r>
            <a:r>
              <a:rPr dirty="0"/>
              <a:t> = "Saved";</a:t>
            </a:r>
            <a:br>
              <a:rPr dirty="0"/>
            </a:br>
            <a:r>
              <a:rPr dirty="0"/>
              <a:t>});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AFDB2-9284-EC08-2FFE-5B156FD1B076}"/>
              </a:ext>
            </a:extLst>
          </p:cNvPr>
          <p:cNvSpPr txBox="1"/>
          <p:nvPr/>
        </p:nvSpPr>
        <p:spPr>
          <a:xfrm>
            <a:off x="780287" y="1765680"/>
            <a:ext cx="2071067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click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input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change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submit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 err="1"/>
              <a:t>keydown</a:t>
            </a: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 err="1"/>
              <a:t>DOMContentLoaded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46DBE-9C0A-D4C1-7E8E-42F57A59F496}"/>
              </a:ext>
            </a:extLst>
          </p:cNvPr>
          <p:cNvSpPr txBox="1"/>
          <p:nvPr/>
        </p:nvSpPr>
        <p:spPr>
          <a:xfrm>
            <a:off x="6646798" y="1765679"/>
            <a:ext cx="4554601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Capture phase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Target phase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Bubble phase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Event delegation can use bubbling</a:t>
            </a:r>
          </a:p>
        </p:txBody>
      </p:sp>
    </p:spTree>
    <p:extLst>
      <p:ext uri="{BB962C8B-B14F-4D97-AF65-F5344CB8AC3E}">
        <p14:creationId xmlns:p14="http://schemas.microsoft.com/office/powerpoint/2010/main" val="185634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A606-A74C-F638-0D97-A0E4BAF6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2EEBBFE-AD0F-2E67-3E2A-D625DAB4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80B2C9E-69C5-EEF9-1AF7-6E46CA1E141A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Asynchronous JavaScript</a:t>
            </a:r>
          </a:p>
          <a:p>
            <a:br>
              <a:rPr lang="en-IN" dirty="0"/>
            </a:br>
            <a:endParaRPr lang="en-US" dirty="0"/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31FF27AD-0E40-B63C-64F3-85980247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671" y="1284826"/>
            <a:ext cx="3638549" cy="4675813"/>
          </a:xfrm>
        </p:spPr>
        <p:txBody>
          <a:bodyPr/>
          <a:lstStyle/>
          <a:p>
            <a:pPr marL="0" indent="0">
              <a:buNone/>
              <a:defRPr sz="1800" b="1">
                <a:solidFill>
                  <a:srgbClr val="265CA0"/>
                </a:solidFill>
                <a:latin typeface="Arial"/>
              </a:defRPr>
            </a:pPr>
            <a:r>
              <a:rPr lang="en-IN" sz="2400" dirty="0">
                <a:solidFill>
                  <a:schemeClr val="accent1"/>
                </a:solidFill>
                <a:latin typeface="Arial"/>
              </a:rPr>
              <a:t>Common async work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IN" sz="2400" dirty="0">
              <a:solidFill>
                <a:schemeClr val="accent1"/>
              </a:solidFill>
              <a:latin typeface="Arial"/>
            </a:endParaRP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AE9E1F3E-58DC-4C1B-C752-D0AE5077E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8955" y="1284826"/>
            <a:ext cx="4504986" cy="4392000"/>
          </a:xfrm>
        </p:spPr>
        <p:txBody>
          <a:bodyPr/>
          <a:lstStyle/>
          <a:p>
            <a:pPr marL="0" indent="0">
              <a:buNone/>
              <a:defRPr sz="1800" b="1">
                <a:solidFill>
                  <a:srgbClr val="265CA0"/>
                </a:solidFill>
                <a:latin typeface="Arial"/>
              </a:defRPr>
            </a:pPr>
            <a:r>
              <a:rPr lang="en-IN" sz="2400" b="1" dirty="0">
                <a:solidFill>
                  <a:schemeClr val="accent1"/>
                </a:solidFill>
                <a:latin typeface="Arial"/>
              </a:rPr>
              <a:t>Key concepts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B30B4CBD-51DB-6810-EFAD-B6A0B5A5CF69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92587253-54DC-35B0-09FF-D5CF22BB497B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4C87F6A8-C8C9-5CC1-F990-5656CE6800D8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F3D16E-3125-6210-DD58-13E976F18AB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A06C14-BC6F-042C-31C7-E9748070448E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86D57-484B-4F28-2CBB-8612E048239F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164F4-F798-21BF-3B5C-7887B670EBF0}"/>
              </a:ext>
            </a:extLst>
          </p:cNvPr>
          <p:cNvSpPr txBox="1"/>
          <p:nvPr/>
        </p:nvSpPr>
        <p:spPr>
          <a:xfrm>
            <a:off x="8366761" y="2240280"/>
            <a:ext cx="2591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Employee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1CC8A-91C7-C690-C95C-9CBC3ECBB7C8}"/>
              </a:ext>
            </a:extLst>
          </p:cNvPr>
          <p:cNvSpPr txBox="1"/>
          <p:nvPr/>
        </p:nvSpPr>
        <p:spPr>
          <a:xfrm>
            <a:off x="7132002" y="1969657"/>
            <a:ext cx="37314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status = </a:t>
            </a:r>
            <a:r>
              <a:rPr dirty="0" err="1"/>
              <a:t>document.querySelector</a:t>
            </a:r>
            <a:r>
              <a:rPr dirty="0"/>
              <a:t>("#status");</a:t>
            </a:r>
            <a:br>
              <a:rPr dirty="0"/>
            </a:b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("#save");</a:t>
            </a:r>
            <a:br>
              <a:rPr dirty="0"/>
            </a:br>
            <a:br>
              <a:rPr dirty="0"/>
            </a:br>
            <a:r>
              <a:rPr dirty="0" err="1"/>
              <a:t>button.addEventListener</a:t>
            </a:r>
            <a:r>
              <a:rPr dirty="0"/>
              <a:t>("click", () =&gt; {</a:t>
            </a:r>
            <a:br>
              <a:rPr dirty="0"/>
            </a:br>
            <a:r>
              <a:rPr dirty="0"/>
              <a:t>  </a:t>
            </a:r>
            <a:r>
              <a:rPr dirty="0" err="1"/>
              <a:t>status.textContent</a:t>
            </a:r>
            <a:r>
              <a:rPr dirty="0"/>
              <a:t> = "Saved";</a:t>
            </a:r>
            <a:br>
              <a:rPr dirty="0"/>
            </a:br>
            <a:r>
              <a:rPr dirty="0"/>
              <a:t>});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7B4AF-3DCF-4099-91FA-024080ECDDC0}"/>
              </a:ext>
            </a:extLst>
          </p:cNvPr>
          <p:cNvSpPr txBox="1"/>
          <p:nvPr/>
        </p:nvSpPr>
        <p:spPr>
          <a:xfrm>
            <a:off x="780287" y="1765680"/>
            <a:ext cx="207106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Timers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DOM events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Network requests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File / browser APIs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API responses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F742E-C26E-270E-773A-BA46DA8F889B}"/>
              </a:ext>
            </a:extLst>
          </p:cNvPr>
          <p:cNvSpPr txBox="1"/>
          <p:nvPr/>
        </p:nvSpPr>
        <p:spPr>
          <a:xfrm>
            <a:off x="6646798" y="1765679"/>
            <a:ext cx="455460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Call stack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Web APIs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Task queue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Microtask queue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Event loop</a:t>
            </a:r>
          </a:p>
        </p:txBody>
      </p:sp>
    </p:spTree>
    <p:extLst>
      <p:ext uri="{BB962C8B-B14F-4D97-AF65-F5344CB8AC3E}">
        <p14:creationId xmlns:p14="http://schemas.microsoft.com/office/powerpoint/2010/main" val="88358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0648-898A-DE04-C076-D8641743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AB016231-E065-A636-3D2C-442D6224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910B6F8-E532-50D3-FDDE-A52A19EFD7B9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Promises</a:t>
            </a:r>
          </a:p>
        </p:txBody>
      </p:sp>
      <p:sp>
        <p:nvSpPr>
          <p:cNvPr id="24" name="Content Placeholder 31">
            <a:extLst>
              <a:ext uri="{FF2B5EF4-FFF2-40B4-BE49-F238E27FC236}">
                <a16:creationId xmlns:a16="http://schemas.microsoft.com/office/drawing/2014/main" id="{287B7E19-DA24-666C-29E4-2004E7819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671" y="1284826"/>
            <a:ext cx="3638549" cy="4675813"/>
          </a:xfrm>
        </p:spPr>
        <p:txBody>
          <a:bodyPr/>
          <a:lstStyle/>
          <a:p>
            <a:pPr marL="0" indent="0">
              <a:buNone/>
              <a:defRPr sz="1800" b="1">
                <a:solidFill>
                  <a:srgbClr val="265CA0"/>
                </a:solidFill>
                <a:latin typeface="Arial"/>
              </a:defRPr>
            </a:pPr>
            <a:r>
              <a:rPr lang="en-IN" sz="2400" dirty="0">
                <a:solidFill>
                  <a:schemeClr val="accent1"/>
                </a:solidFill>
                <a:latin typeface="Arial"/>
              </a:rPr>
              <a:t>Promises states</a:t>
            </a: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IN" sz="2400" dirty="0">
              <a:solidFill>
                <a:schemeClr val="accent1"/>
              </a:solidFill>
              <a:latin typeface="Arial"/>
            </a:endParaRPr>
          </a:p>
          <a:p>
            <a:pPr marL="0" indent="0">
              <a:spcAft>
                <a:spcPts val="900"/>
              </a:spcAft>
              <a:buNone/>
              <a:defRPr sz="1500">
                <a:solidFill>
                  <a:srgbClr val="282D34"/>
                </a:solidFill>
                <a:latin typeface="Arial"/>
              </a:defRPr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5" name="Content Placeholder 32">
            <a:extLst>
              <a:ext uri="{FF2B5EF4-FFF2-40B4-BE49-F238E27FC236}">
                <a16:creationId xmlns:a16="http://schemas.microsoft.com/office/drawing/2014/main" id="{2ED4AAE9-B6AC-154D-CA2C-3A737153F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8955" y="1284826"/>
            <a:ext cx="4504986" cy="4392000"/>
          </a:xfrm>
        </p:spPr>
        <p:txBody>
          <a:bodyPr/>
          <a:lstStyle/>
          <a:p>
            <a:pPr marL="0" indent="0">
              <a:buNone/>
              <a:defRPr sz="1800" b="1">
                <a:solidFill>
                  <a:srgbClr val="265CA0"/>
                </a:solidFill>
                <a:latin typeface="Arial"/>
              </a:defRPr>
            </a:pPr>
            <a:r>
              <a:rPr lang="en-IN" sz="2400" b="1" dirty="0">
                <a:solidFill>
                  <a:schemeClr val="accent1"/>
                </a:solidFill>
                <a:latin typeface="Arial"/>
              </a:rPr>
              <a:t>Why use them?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356C5D70-68A3-7847-787A-E13F92164DB2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931231F0-4C41-7DF4-A86A-8CFFC29A0F87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BBF8BBD5-4C88-1B38-2534-B24CD2EC5B3A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CED62A-24FB-4E38-F43E-6140A32509F2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328FD5-8E52-4F09-309E-ABCF0F08DC39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A6062-727F-0BF1-6EB1-BAAA204D9233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AAFC0-B66D-A4FF-AA2E-595AEA56F0B1}"/>
              </a:ext>
            </a:extLst>
          </p:cNvPr>
          <p:cNvSpPr txBox="1"/>
          <p:nvPr/>
        </p:nvSpPr>
        <p:spPr>
          <a:xfrm>
            <a:off x="8366761" y="2240280"/>
            <a:ext cx="2591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Employee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274E8-2578-9128-6A99-AC07AB10E72E}"/>
              </a:ext>
            </a:extLst>
          </p:cNvPr>
          <p:cNvSpPr txBox="1"/>
          <p:nvPr/>
        </p:nvSpPr>
        <p:spPr>
          <a:xfrm>
            <a:off x="7132002" y="1969657"/>
            <a:ext cx="37314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status = </a:t>
            </a:r>
            <a:r>
              <a:rPr dirty="0" err="1"/>
              <a:t>document.querySelector</a:t>
            </a:r>
            <a:r>
              <a:rPr dirty="0"/>
              <a:t>("#status");</a:t>
            </a:r>
            <a:br>
              <a:rPr dirty="0"/>
            </a:b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("#save");</a:t>
            </a:r>
            <a:br>
              <a:rPr dirty="0"/>
            </a:br>
            <a:br>
              <a:rPr dirty="0"/>
            </a:br>
            <a:r>
              <a:rPr dirty="0" err="1"/>
              <a:t>button.addEventListener</a:t>
            </a:r>
            <a:r>
              <a:rPr dirty="0"/>
              <a:t>("click", () =&gt; {</a:t>
            </a:r>
            <a:br>
              <a:rPr dirty="0"/>
            </a:br>
            <a:r>
              <a:rPr dirty="0"/>
              <a:t>  </a:t>
            </a:r>
            <a:r>
              <a:rPr dirty="0" err="1"/>
              <a:t>status.textContent</a:t>
            </a:r>
            <a:r>
              <a:rPr dirty="0"/>
              <a:t> = "Saved";</a:t>
            </a:r>
            <a:br>
              <a:rPr dirty="0"/>
            </a:br>
            <a:r>
              <a:rPr dirty="0"/>
              <a:t>});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37BC-2D3A-5979-17DF-25DA8347D96A}"/>
              </a:ext>
            </a:extLst>
          </p:cNvPr>
          <p:cNvSpPr txBox="1"/>
          <p:nvPr/>
        </p:nvSpPr>
        <p:spPr>
          <a:xfrm>
            <a:off x="780287" y="1765680"/>
            <a:ext cx="207106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Timers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DOM events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Network requests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File / browser APIs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IN" dirty="0"/>
              <a:t>API responses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C6021-37A0-DBD8-2BED-9811B7628145}"/>
              </a:ext>
            </a:extLst>
          </p:cNvPr>
          <p:cNvSpPr txBox="1"/>
          <p:nvPr/>
        </p:nvSpPr>
        <p:spPr>
          <a:xfrm>
            <a:off x="6646798" y="1765679"/>
            <a:ext cx="4554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Represent future results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Chain asynchronous work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lang="en-US" dirty="0"/>
              <a:t>Centralize error handling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E62E7-01BB-641A-FFBA-3FB00549E4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C420E-AE76-6D02-C9D2-20EAF149DF62}"/>
              </a:ext>
            </a:extLst>
          </p:cNvPr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Debugging JavaScript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C486386-D4B3-10E3-1CFD-A798BBE421AE}"/>
              </a:ext>
            </a:extLst>
          </p:cNvPr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AB63A-C673-0878-7326-B327FD864BBB}"/>
              </a:ext>
            </a:extLst>
          </p:cNvPr>
          <p:cNvSpPr txBox="1"/>
          <p:nvPr/>
        </p:nvSpPr>
        <p:spPr>
          <a:xfrm>
            <a:off x="91440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DevTools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400D2-54D9-BBE5-8483-F5A1FDC6AC4E}"/>
              </a:ext>
            </a:extLst>
          </p:cNvPr>
          <p:cNvSpPr txBox="1"/>
          <p:nvPr/>
        </p:nvSpPr>
        <p:spPr>
          <a:xfrm>
            <a:off x="91440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Console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Sources / breakpoints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Network tab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Elements / DOM inspection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Call stack and scope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A59FD185-EEDA-31F7-6469-3F0B6E77D954}"/>
              </a:ext>
            </a:extLst>
          </p:cNvPr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044F82-661B-FA13-62C0-D2B61603D9FE}"/>
              </a:ext>
            </a:extLst>
          </p:cNvPr>
          <p:cNvSpPr txBox="1"/>
          <p:nvPr/>
        </p:nvSpPr>
        <p:spPr>
          <a:xfrm>
            <a:off x="658368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Debugging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A533D-623C-E844-C777-9234F79E6C6B}"/>
              </a:ext>
            </a:extLst>
          </p:cNvPr>
          <p:cNvSpPr txBox="1"/>
          <p:nvPr/>
        </p:nvSpPr>
        <p:spPr>
          <a:xfrm>
            <a:off x="658368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Read the first useful error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Reproduce the issue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Inspect inputs and state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Step through code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Verify the fix with a focused 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4D6C1-DC4A-C713-8083-D42EA2CBC087}"/>
              </a:ext>
            </a:extLst>
          </p:cNvPr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C29D9-D89D-B995-C647-1465A78BB152}"/>
              </a:ext>
            </a:extLst>
          </p:cNvPr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44253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95EE-3E2A-1A39-DEA5-AAF8D1DF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874DE765-E7B3-9F9B-DC04-7C125323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5081FEE-95E0-4CCB-293B-D531F4160A2A}"/>
              </a:ext>
            </a:extLst>
          </p:cNvPr>
          <p:cNvSpPr txBox="1">
            <a:spLocks/>
          </p:cNvSpPr>
          <p:nvPr/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async / await</a:t>
            </a:r>
          </a:p>
          <a:p>
            <a:endParaRPr lang="en-US" dirty="0"/>
          </a:p>
        </p:txBody>
      </p:sp>
      <p:sp>
        <p:nvSpPr>
          <p:cNvPr id="26" name="Content Placeholder 33">
            <a:extLst>
              <a:ext uri="{FF2B5EF4-FFF2-40B4-BE49-F238E27FC236}">
                <a16:creationId xmlns:a16="http://schemas.microsoft.com/office/drawing/2014/main" id="{D23F578B-ECDD-FA18-BE14-5A3EF421217D}"/>
              </a:ext>
            </a:extLst>
          </p:cNvPr>
          <p:cNvSpPr txBox="1">
            <a:spLocks/>
          </p:cNvSpPr>
          <p:nvPr/>
        </p:nvSpPr>
        <p:spPr>
          <a:xfrm>
            <a:off x="8094664" y="1322929"/>
            <a:ext cx="3638550" cy="4440671"/>
          </a:xfrm>
          <a:prstGeom prst="rect">
            <a:avLst/>
          </a:prstGeom>
        </p:spPr>
        <p:txBody>
          <a:bodyPr/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B00F1F77-C5C8-A263-A6D1-80CAD026B331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0" name="Date Placeholder 8">
            <a:extLst>
              <a:ext uri="{FF2B5EF4-FFF2-40B4-BE49-F238E27FC236}">
                <a16:creationId xmlns:a16="http://schemas.microsoft.com/office/drawing/2014/main" id="{282D5A6C-4826-34C7-8301-85ED1AE6FD73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DBB539-F7F3-0EAC-1A44-E8946D9B7131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4BD9CF-505A-1996-09B3-242ECCD96F8E}"/>
              </a:ext>
            </a:extLst>
          </p:cNvPr>
          <p:cNvSpPr txBox="1"/>
          <p:nvPr/>
        </p:nvSpPr>
        <p:spPr>
          <a:xfrm>
            <a:off x="8549640" y="1883664"/>
            <a:ext cx="2560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function add(a, b) {</a:t>
            </a:r>
            <a:br>
              <a:rPr dirty="0"/>
            </a:br>
            <a:r>
              <a:rPr dirty="0"/>
              <a:t>  retur</a:t>
            </a:r>
            <a:r>
              <a:rPr lang="en-US" dirty="0"/>
              <a:t>n</a:t>
            </a:r>
            <a:r>
              <a:rPr dirty="0"/>
              <a:t> a + b;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result =add(10, 20);</a:t>
            </a:r>
            <a:br>
              <a:rPr dirty="0"/>
            </a:br>
            <a:r>
              <a:rPr dirty="0"/>
              <a:t>console.log(result);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2E50E-A9DB-F2FD-B80D-FE572990CCD9}"/>
              </a:ext>
            </a:extLst>
          </p:cNvPr>
          <p:cNvSpPr txBox="1"/>
          <p:nvPr/>
        </p:nvSpPr>
        <p:spPr>
          <a:xfrm>
            <a:off x="780288" y="2532888"/>
            <a:ext cx="244754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employee = {</a:t>
            </a:r>
            <a:br>
              <a:rPr dirty="0"/>
            </a:br>
            <a:r>
              <a:rPr dirty="0"/>
              <a:t>  name: "Alex",</a:t>
            </a:r>
            <a:br>
              <a:rPr dirty="0"/>
            </a:br>
            <a:r>
              <a:rPr dirty="0"/>
              <a:t>  role: "Developer"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br>
              <a:rPr dirty="0"/>
            </a:br>
            <a:r>
              <a:rPr dirty="0" err="1"/>
              <a:t>employee.role</a:t>
            </a:r>
            <a:r>
              <a:rPr dirty="0"/>
              <a:t> = "Lead";</a:t>
            </a:r>
            <a:br>
              <a:rPr dirty="0"/>
            </a:br>
            <a:r>
              <a:rPr dirty="0"/>
              <a:t>console.log(employee.name);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98AB5-533C-5268-F1E4-D127A647D141}"/>
              </a:ext>
            </a:extLst>
          </p:cNvPr>
          <p:cNvSpPr txBox="1"/>
          <p:nvPr/>
        </p:nvSpPr>
        <p:spPr>
          <a:xfrm>
            <a:off x="8366761" y="2240280"/>
            <a:ext cx="2591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class Employee {</a:t>
            </a:r>
            <a:br>
              <a:rPr dirty="0"/>
            </a:br>
            <a:r>
              <a:rPr dirty="0"/>
              <a:t>  constructor(name) {</a:t>
            </a:r>
            <a:br>
              <a:rPr dirty="0"/>
            </a:br>
            <a:r>
              <a:rPr dirty="0"/>
              <a:t>    this.name = name;</a:t>
            </a:r>
            <a:br>
              <a:rPr dirty="0"/>
            </a:br>
            <a:r>
              <a:rPr dirty="0"/>
              <a:t>  </a:t>
            </a:r>
            <a:br>
              <a:rPr dirty="0"/>
            </a:br>
            <a:r>
              <a:rPr dirty="0"/>
              <a:t>  greet() {</a:t>
            </a:r>
            <a:br>
              <a:rPr dirty="0"/>
            </a:br>
            <a:r>
              <a:rPr dirty="0"/>
              <a:t>    return `Hi ${this.name}`;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const e = new Employee("Alex");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0684C-7392-B4A3-5EAA-4DF42D54F429}"/>
              </a:ext>
            </a:extLst>
          </p:cNvPr>
          <p:cNvSpPr txBox="1"/>
          <p:nvPr/>
        </p:nvSpPr>
        <p:spPr>
          <a:xfrm>
            <a:off x="7132002" y="1969657"/>
            <a:ext cx="37314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const status = </a:t>
            </a:r>
            <a:r>
              <a:rPr dirty="0" err="1"/>
              <a:t>document.querySelector</a:t>
            </a:r>
            <a:r>
              <a:rPr dirty="0"/>
              <a:t>("#status");</a:t>
            </a:r>
            <a:br>
              <a:rPr dirty="0"/>
            </a:b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("#save");</a:t>
            </a:r>
            <a:br>
              <a:rPr dirty="0"/>
            </a:br>
            <a:br>
              <a:rPr dirty="0"/>
            </a:br>
            <a:r>
              <a:rPr dirty="0" err="1"/>
              <a:t>button.addEventListener</a:t>
            </a:r>
            <a:r>
              <a:rPr dirty="0"/>
              <a:t>("click", () =&gt; {</a:t>
            </a:r>
            <a:br>
              <a:rPr dirty="0"/>
            </a:br>
            <a:r>
              <a:rPr dirty="0"/>
              <a:t>  </a:t>
            </a:r>
            <a:r>
              <a:rPr dirty="0" err="1"/>
              <a:t>status.textContent</a:t>
            </a:r>
            <a:r>
              <a:rPr dirty="0"/>
              <a:t> = "Saved";</a:t>
            </a:r>
            <a:br>
              <a:rPr dirty="0"/>
            </a:br>
            <a:r>
              <a:rPr dirty="0"/>
              <a:t>});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436F182-1663-7BC2-8FC8-1F010C8B942F}"/>
              </a:ext>
            </a:extLst>
          </p:cNvPr>
          <p:cNvSpPr/>
          <p:nvPr/>
        </p:nvSpPr>
        <p:spPr>
          <a:xfrm>
            <a:off x="822960" y="1234440"/>
            <a:ext cx="10515600" cy="448056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E6177-AE2F-3944-50FC-DB63265FE269}"/>
              </a:ext>
            </a:extLst>
          </p:cNvPr>
          <p:cNvSpPr txBox="1"/>
          <p:nvPr/>
        </p:nvSpPr>
        <p:spPr>
          <a:xfrm>
            <a:off x="1051560" y="1399032"/>
            <a:ext cx="10058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async function </a:t>
            </a:r>
            <a:r>
              <a:rPr dirty="0" err="1"/>
              <a:t>loadUsers</a:t>
            </a:r>
            <a:r>
              <a:rPr dirty="0"/>
              <a:t>() {</a:t>
            </a:r>
            <a:br>
              <a:rPr dirty="0"/>
            </a:br>
            <a:r>
              <a:rPr dirty="0"/>
              <a:t>  try {</a:t>
            </a:r>
            <a:br>
              <a:rPr dirty="0"/>
            </a:br>
            <a:r>
              <a:rPr dirty="0"/>
              <a:t>    const response = await fetch("/</a:t>
            </a:r>
            <a:r>
              <a:rPr dirty="0" err="1"/>
              <a:t>api</a:t>
            </a:r>
            <a:r>
              <a:rPr dirty="0"/>
              <a:t>/users");</a:t>
            </a:r>
            <a:br>
              <a:rPr dirty="0"/>
            </a:br>
            <a:br>
              <a:rPr dirty="0"/>
            </a:br>
            <a:r>
              <a:rPr dirty="0"/>
              <a:t>    if (!</a:t>
            </a:r>
            <a:r>
              <a:rPr dirty="0" err="1"/>
              <a:t>response.ok</a:t>
            </a:r>
            <a:r>
              <a:rPr dirty="0"/>
              <a:t>) {</a:t>
            </a:r>
            <a:br>
              <a:rPr dirty="0"/>
            </a:br>
            <a:r>
              <a:rPr dirty="0"/>
              <a:t>      throw new Error(`HTTP ${</a:t>
            </a:r>
            <a:r>
              <a:rPr dirty="0" err="1"/>
              <a:t>response.status</a:t>
            </a:r>
            <a:r>
              <a:rPr dirty="0"/>
              <a:t>}`);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return await </a:t>
            </a:r>
            <a:r>
              <a:rPr dirty="0" err="1"/>
              <a:t>response.json</a:t>
            </a:r>
            <a:r>
              <a:rPr dirty="0"/>
              <a:t>();</a:t>
            </a:r>
            <a:br>
              <a:rPr dirty="0"/>
            </a:br>
            <a:r>
              <a:rPr dirty="0"/>
              <a:t>  } catch (error) {</a:t>
            </a:r>
            <a:br>
              <a:rPr dirty="0"/>
            </a:br>
            <a:r>
              <a:rPr dirty="0"/>
              <a:t>    </a:t>
            </a:r>
            <a:r>
              <a:rPr dirty="0" err="1"/>
              <a:t>console.error</a:t>
            </a:r>
            <a:r>
              <a:rPr dirty="0"/>
              <a:t>(error);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917962-9A0B-4216-6FEC-CF204334C7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8B7BD7-C9DC-4E0D-2D3E-47355C4571AE}"/>
              </a:ext>
            </a:extLst>
          </p:cNvPr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APIs, JSON &amp; fetch()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B665C4D6-88FE-16A7-4229-9694874517BA}"/>
              </a:ext>
            </a:extLst>
          </p:cNvPr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84081-1C6A-F7C9-6081-430DF65E32BF}"/>
              </a:ext>
            </a:extLst>
          </p:cNvPr>
          <p:cNvSpPr txBox="1"/>
          <p:nvPr/>
        </p:nvSpPr>
        <p:spPr>
          <a:xfrm>
            <a:off x="91440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Typical 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0434F1-183A-209A-74A4-A5C3DF4DC46B}"/>
              </a:ext>
            </a:extLst>
          </p:cNvPr>
          <p:cNvSpPr txBox="1"/>
          <p:nvPr/>
        </p:nvSpPr>
        <p:spPr>
          <a:xfrm>
            <a:off x="91440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Create HTTP request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Check response status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Parse JSON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Transform data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Update application state / UI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E354714C-1BC6-B0D9-B2E9-64EB30C47EEF}"/>
              </a:ext>
            </a:extLst>
          </p:cNvPr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4EF969-178A-61DB-6668-FE5B1133F0E2}"/>
              </a:ext>
            </a:extLst>
          </p:cNvPr>
          <p:cNvSpPr txBox="1"/>
          <p:nvPr/>
        </p:nvSpPr>
        <p:spPr>
          <a:xfrm>
            <a:off x="658368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Important detail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D0C9F4-C409-EB6A-B749-C96A49D736AE}"/>
              </a:ext>
            </a:extLst>
          </p:cNvPr>
          <p:cNvSpPr txBox="1"/>
          <p:nvPr/>
        </p:nvSpPr>
        <p:spPr>
          <a:xfrm>
            <a:off x="658368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fetch() rejects for network-level failures.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HTTP 404/500 does not automatically reject.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Handle loading, success and error states.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F33DD2-02C0-891B-DF08-165886776194}"/>
              </a:ext>
            </a:extLst>
          </p:cNvPr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6F8C2-CAD1-D58C-2127-F88C7895F52B}"/>
              </a:ext>
            </a:extLst>
          </p:cNvPr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4996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CE35-41D3-E01D-39EF-0D663649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36F2F-487A-87BC-B7F2-0C43C2A4F8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6A0A1-C146-6D2A-FADD-30FE090D5FB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BD181-E161-108D-9AC2-A85014E82B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A07C50-6DEE-F841-3CB0-8777F3FFE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1929759"/>
          </a:xfrm>
        </p:spPr>
        <p:txBody>
          <a:bodyPr/>
          <a:lstStyle/>
          <a:p>
            <a:r>
              <a:rPr lang="en-IN" dirty="0"/>
              <a:t>Ferguson Contexts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8" name="Graphic 7" descr="Anemone and clownfish with solid fill">
            <a:extLst>
              <a:ext uri="{FF2B5EF4-FFF2-40B4-BE49-F238E27FC236}">
                <a16:creationId xmlns:a16="http://schemas.microsoft.com/office/drawing/2014/main" id="{8CD4DA53-AD8D-7228-E696-10B032722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73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JavaScript in Enterprise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Typical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UI interactions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Form validation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API integration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Data transformation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State / UI updates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Error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Engineering expectations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Readable code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Reusable functions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Clear module boundaries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Consistent error handling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Secure DOM usage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Good debugging habits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AI Leverage &amp;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Good uses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Explain unfamiliar JavaScript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Generate small examples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Suggest refactoring options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Create test cases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Help diagnose error messages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Summarize API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5CA0"/>
                </a:solidFill>
                <a:latin typeface="Arial"/>
              </a:defRPr>
            </a:pPr>
            <a:r>
              <a:t>Engineer remains responsible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Review generated code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Verify syntax and runtime behavior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Check security implications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Avoid copying code without understanding it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t>Test against real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Technical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1. Why prefer const when a binding is not reassigned?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2. What is the difference between == and ===?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3. Explain lexical scope.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4. What is a closure?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5. How does arrow-function this differ from regular-function this?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6. What is event bubbling?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7. Why does fetch() not reject on HTTP 404 by default?</a:t>
            </a:r>
          </a:p>
          <a:p>
            <a:pPr>
              <a:spcAft>
                <a:spcPts val="900"/>
              </a:spcAft>
              <a:defRPr sz="1500">
                <a:solidFill>
                  <a:srgbClr val="282D34"/>
                </a:solidFill>
                <a:latin typeface="Arial"/>
              </a:defRPr>
            </a:pPr>
            <a:r>
              <a:rPr dirty="0"/>
              <a:t>8. Why can </a:t>
            </a:r>
            <a:r>
              <a:rPr dirty="0" err="1"/>
              <a:t>Promise.all</a:t>
            </a:r>
            <a:r>
              <a:rPr dirty="0"/>
              <a:t>() be faster than sequential await calls?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JavaScript fundamentals are still critical: types, scope, functions, objects and control flow.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Modern syntax improves readability, but the underlying language model still matters.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DOM + events explain browser interaction.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Promises + async/await explain most application-level asynchronous work.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fetch() connects JavaScript to APIs and real data.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DevTools should be part of everyday debugging.</a:t>
            </a:r>
          </a:p>
          <a:p>
            <a:pPr>
              <a:spcAft>
                <a:spcPts val="900"/>
              </a:spcAft>
              <a:defRPr sz="1800">
                <a:solidFill>
                  <a:srgbClr val="282D34"/>
                </a:solidFill>
                <a:latin typeface="Arial"/>
              </a:defRPr>
            </a:pPr>
            <a:r>
              <a:t>Use AI as an accelerator — not a replacement for engineering judgment.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1: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let / const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variables for name, age and isActive.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Print all three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name = "Alex";</a:t>
            </a:r>
            <a:br/>
            <a:r>
              <a:t>let age = 22;</a:t>
            </a:r>
            <a:br/>
            <a:r>
              <a:t>let isActive = true;</a:t>
            </a:r>
            <a:br/>
            <a:r>
              <a:t>// print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950138" cy="1502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rPr dirty="0"/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rPr dirty="0"/>
              <a:t>Console should show the three values. Change age </a:t>
            </a:r>
            <a:endParaRPr lang="en-US" dirty="0"/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rPr dirty="0"/>
              <a:t>and observe the output.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rPr dirty="0"/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2: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typeof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one string, number, boolean and undefined value.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Use typeof on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name = "Alex";</a:t>
            </a:r>
            <a:br/>
            <a:r>
              <a:t>const age = 22;</a:t>
            </a:r>
            <a:br/>
            <a:r>
              <a:t>const active = true;</a:t>
            </a:r>
            <a:br/>
            <a:r>
              <a:t>let score;</a:t>
            </a:r>
            <a:br/>
            <a:br/>
            <a:r>
              <a:t>// use typeof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rPr dirty="0"/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rPr dirty="0"/>
              <a:t>You should see string, number, </a:t>
            </a:r>
            <a:r>
              <a:rPr dirty="0" err="1"/>
              <a:t>boolean</a:t>
            </a:r>
            <a:r>
              <a:rPr dirty="0"/>
              <a:t> and undefined.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rPr dirty="0"/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3: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arithmetic +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Calculate total price for 3 items.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Check whether the total is greater than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a = 40;</a:t>
            </a:r>
            <a:br/>
            <a:r>
              <a:t>const b = 35;</a:t>
            </a:r>
            <a:br/>
            <a:r>
              <a:t>const c = 30;</a:t>
            </a:r>
            <a:br/>
            <a:br/>
            <a:r>
              <a:t>// calculate total</a:t>
            </a:r>
            <a:br/>
            <a:r>
              <a:t>// compare total with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The total is 105, so the comparison should be true.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4: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if / 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a score variable.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Print Pass when score &gt;= 50, otherwise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score = 72;</a:t>
            </a:r>
            <a:br/>
            <a:br/>
            <a:r>
              <a:t>if (/* condition */) {</a:t>
            </a:r>
            <a:br/>
            <a:r>
              <a:t>  // Pass</a:t>
            </a:r>
            <a:br/>
            <a:r>
              <a:t>} else {</a:t>
            </a:r>
            <a:br/>
            <a:r>
              <a:t>  // Fail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Change the score to 40 and verify that the result changes.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5: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for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Print numbers 1 to 10.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Then change the loop to print only even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for (let i = 1; i &lt;= 10; i++) {</a:t>
            </a:r>
            <a:br/>
            <a:r>
              <a:t>  console.log(i);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First see 1–10. Then use a condition such as i % 2 === 0.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6: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parameters +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add(a, b).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Return the sum and print add(10, 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function add(a, b) {</a:t>
            </a:r>
            <a:br/>
            <a:r>
              <a:t>  // return the sum</a:t>
            </a:r>
            <a:br/>
            <a:r>
              <a:t>}</a:t>
            </a:r>
            <a:br/>
            <a:br/>
            <a:r>
              <a:t>console.log(add(10, 20));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The output should be 30. Try add(5, 7) next.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7: Arrow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arrow 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Convert add(a,b) into an arrow function.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square(n) too.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add = (a, b) =&gt; {</a:t>
            </a:r>
            <a:br/>
            <a:r>
              <a:t>  // return a + b</a:t>
            </a:r>
            <a:br/>
            <a:r>
              <a:t>};</a:t>
            </a:r>
            <a:br/>
            <a:br/>
            <a:r>
              <a:t>// create square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You should be able to call add(2,3) and square(5).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8: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map()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Given prices, create a new array with 10% tax added.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Do not change the original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prices = [100, 200, 300];</a:t>
            </a:r>
            <a:br/>
            <a:br/>
            <a:r>
              <a:t>const withTax = prices.map(price =&gt; {</a:t>
            </a:r>
            <a:br/>
            <a:r>
              <a:t>  // add 10%</a:t>
            </a:r>
            <a:br/>
            <a:r>
              <a:t>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Expected result: [110, 220, 330].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9: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filter()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From the numbers array, keep only numbers greater than 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numbers = [20, 75, 40, 90, 60];</a:t>
            </a:r>
            <a:br/>
            <a:r>
              <a:t>const result = numbers.filter(n =&gt; {</a:t>
            </a:r>
            <a:br/>
            <a:r>
              <a:t>  // condition</a:t>
            </a:r>
            <a:br/>
            <a:r>
              <a:t>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Expected result: [75, 90, 60].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10: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reduce()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Calculate the total of all prices.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Start with an accumulator of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prices = [100, 200, 50];</a:t>
            </a:r>
            <a:br/>
            <a:r>
              <a:t>const total = prices.reduce((sum, price) =&gt; {</a:t>
            </a:r>
            <a:br/>
            <a:r>
              <a:t>  // add price</a:t>
            </a:r>
            <a:br/>
            <a:r>
              <a:t>}, 0);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Expected total: 350.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11: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property access +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Create an employee object with name and role.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Update the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employee = {</a:t>
            </a:r>
            <a:br/>
            <a:r>
              <a:t>  name: "Alex",</a:t>
            </a:r>
            <a:br/>
            <a:r>
              <a:t>  role: "Developer"</a:t>
            </a:r>
            <a:br/>
            <a:r>
              <a:t>};</a:t>
            </a:r>
            <a:br/>
            <a:br/>
            <a:r>
              <a:t>// update role to "Lead"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Reading employee.role after the update should return Lead.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332"/>
                </a:solidFill>
                <a:latin typeface="Arial"/>
              </a:defRPr>
            </a:pPr>
            <a:r>
              <a:t>Hands-on 12: Destructuring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rial"/>
              </a:defRPr>
            </a:pPr>
            <a:r>
              <a:t>Simple exercise — object destructuring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65960"/>
          </a:xfrm>
          <a:prstGeom prst="roundRect">
            <a:avLst/>
          </a:prstGeom>
          <a:solidFill>
            <a:srgbClr val="E7F0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A0"/>
                </a:solidFill>
              </a:defRPr>
            </a:pPr>
            <a:r>
              <a:t>YOUR TASK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Extract name and role from employee.</a:t>
            </a:r>
          </a:p>
          <a:p>
            <a:pPr>
              <a:spcAft>
                <a:spcPts val="500"/>
              </a:spcAft>
              <a:defRPr sz="1600">
                <a:solidFill>
                  <a:srgbClr val="282D34"/>
                </a:solidFill>
              </a:defRPr>
            </a:pPr>
            <a:r>
              <a:t>Print both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212080" cy="1691640"/>
          </a:xfrm>
          <a:prstGeom prst="round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47548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const employee = { name: "Alex", role: "Developer" };</a:t>
            </a:r>
            <a:br/>
            <a:br/>
            <a:r>
              <a:t>// const { name, role } = employee;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3977639"/>
          </a:xfrm>
          <a:prstGeom prst="roundRect">
            <a:avLst/>
          </a:prstGeom>
          <a:solidFill>
            <a:srgbClr val="EBF6EF"/>
          </a:solidFill>
          <a:ln>
            <a:solidFill>
              <a:srgbClr val="36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67D56"/>
                </a:solidFill>
              </a:defRPr>
            </a:pPr>
            <a:r>
              <a:t>EXPECTED OUTCOME</a:t>
            </a:r>
          </a:p>
          <a:p>
            <a:pPr>
              <a:spcBef>
                <a:spcPts val="1000"/>
              </a:spcBef>
              <a:defRPr sz="1600">
                <a:solidFill>
                  <a:srgbClr val="282D34"/>
                </a:solidFill>
              </a:defRPr>
            </a:pPr>
            <a:r>
              <a:t>You should have two local variables: name and role.</a:t>
            </a:r>
          </a:p>
          <a:p>
            <a:pPr>
              <a:spcBef>
                <a:spcPts val="1800"/>
              </a:spcBef>
              <a:defRPr sz="1400">
                <a:solidFill>
                  <a:srgbClr val="69707A"/>
                </a:solidFill>
              </a:defRPr>
            </a:pPr>
            <a:r>
              <a:t>Tip: run the code, change one value, and observe the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D316-45E1-8D39-A7AF-D3F472422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F0DD0-C916-A327-796C-80658FD022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F3C4-FE20-4B92-E3D2-B381BAB95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A8454-3046-D390-CFE8-8871DF64B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DF50C3-6434-88D1-8350-5945ABCC8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DB8C16-F17F-DE27-C4B6-58647D267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FERGUSON.COM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D3A2C1-C170-8CC0-5833-229883FE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28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41"/>
    </mc:Choice>
    <mc:Fallback xmlns="">
      <p:transition spd="slow" advTm="57141"/>
    </mc:Fallback>
  </mc:AlternateContent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40de5f0-b4d6-4099-8573-9762b281cab6" xsi:nil="true"/>
    <lcf76f155ced4ddcb4097134ff3c332f xmlns="740de5f0-b4d6-4099-8573-9762b281cab6">
      <Terms xmlns="http://schemas.microsoft.com/office/infopath/2007/PartnerControls"/>
    </lcf76f155ced4ddcb4097134ff3c332f>
    <TaxCatchAll xmlns="1e622d7b-320f-4a70-9dfc-b4ea20849cb3" xsi:nil="true"/>
  </documentManagement>
</p:properties>
</file>

<file path=customXml/item3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E18108F71CE48B7D341B204F6A9A9" ma:contentTypeVersion="15" ma:contentTypeDescription="Create a new document." ma:contentTypeScope="" ma:versionID="d3b702cb611eef79cc687ea277d69898">
  <xsd:schema xmlns:xsd="http://www.w3.org/2001/XMLSchema" xmlns:xs="http://www.w3.org/2001/XMLSchema" xmlns:p="http://schemas.microsoft.com/office/2006/metadata/properties" xmlns:ns2="740de5f0-b4d6-4099-8573-9762b281cab6" xmlns:ns3="1e622d7b-320f-4a70-9dfc-b4ea20849cb3" targetNamespace="http://schemas.microsoft.com/office/2006/metadata/properties" ma:root="true" ma:fieldsID="43aa41909529d9fba556bf474a678137" ns2:_="" ns3:_="">
    <xsd:import namespace="740de5f0-b4d6-4099-8573-9762b281cab6"/>
    <xsd:import namespace="1e622d7b-320f-4a70-9dfc-b4ea20849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de5f0-b4d6-4099-8573-9762b281ca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b9c5f40-f9d3-4160-ab04-6fd564e93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22d7b-320f-4a70-9dfc-b4ea20849c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ef51d77-27b6-4675-8198-3d9ee98ebca2}" ma:internalName="TaxCatchAll" ma:showField="CatchAllData" ma:web="1e622d7b-320f-4a70-9dfc-b4ea20849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10.xml><?xml version="1.0" encoding="utf-8"?>
<TemplafyFormConfiguration><![CDATA[{"formFields":[],"formDataEntries":[]}]]></TemplafyFormConfiguration>
</file>

<file path=customXml/item11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88CA6FC9-132F-4F54-BDB4-E69AC79ED5FB}">
  <ds:schemaRefs/>
</ds:datastoreItem>
</file>

<file path=customXml/itemProps2.xml><?xml version="1.0" encoding="utf-8"?>
<ds:datastoreItem xmlns:ds="http://schemas.openxmlformats.org/officeDocument/2006/customXml" ds:itemID="{59ABDC19-9982-4205-B071-D93F658E248B}">
  <ds:schemaRefs>
    <ds:schemaRef ds:uri="1e622d7b-320f-4a70-9dfc-b4ea20849cb3"/>
    <ds:schemaRef ds:uri="740de5f0-b4d6-4099-8573-9762b281cab6"/>
    <ds:schemaRef ds:uri="a0c39960-d4df-4ecd-9215-7e0b09eea1c2"/>
    <ds:schemaRef ds:uri="cb02873a-97bd-4ed2-ab62-46f14803b4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88E25B-4A04-40F4-BB18-E378D867DF0F}">
  <ds:schemaRefs/>
</ds:datastoreItem>
</file>

<file path=customXml/itemProps4.xml><?xml version="1.0" encoding="utf-8"?>
<ds:datastoreItem xmlns:ds="http://schemas.openxmlformats.org/officeDocument/2006/customXml" ds:itemID="{940519DC-5D64-4578-8DF9-55B311A66AC4}">
  <ds:schemaRefs>
    <ds:schemaRef ds:uri="1e622d7b-320f-4a70-9dfc-b4ea20849cb3"/>
    <ds:schemaRef ds:uri="740de5f0-b4d6-4099-8573-9762b281ca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333CD5A0-665C-4003-AFD0-FF090DCB32E7}">
  <ds:schemaRefs/>
</ds:datastoreItem>
</file>

<file path=customXml/itemProps7.xml><?xml version="1.0" encoding="utf-8"?>
<ds:datastoreItem xmlns:ds="http://schemas.openxmlformats.org/officeDocument/2006/customXml" ds:itemID="{7B17F212-9E42-4B91-8217-5A05A4B4A278}">
  <ds:schemaRefs/>
</ds:datastoreItem>
</file>

<file path=customXml/itemProps8.xml><?xml version="1.0" encoding="utf-8"?>
<ds:datastoreItem xmlns:ds="http://schemas.openxmlformats.org/officeDocument/2006/customXml" ds:itemID="{AB5CC942-ED91-435A-93E7-549C0D2838B7}">
  <ds:schemaRefs/>
</ds:datastoreItem>
</file>

<file path=customXml/itemProps9.xml><?xml version="1.0" encoding="utf-8"?>
<ds:datastoreItem xmlns:ds="http://schemas.openxmlformats.org/officeDocument/2006/customXml" ds:itemID="{F0567FBA-A811-4FB9-B82B-1C4C88AA0648}">
  <ds:schemaRefs/>
</ds:datastoreItem>
</file>

<file path=customXml/itemProps10.xml><?xml version="1.0" encoding="utf-8"?>
<ds:datastoreItem xmlns:ds="http://schemas.openxmlformats.org/officeDocument/2006/customXml" ds:itemID="{8EB4871E-07B5-4541-BDA0-6B126859C4B6}">
  <ds:schemaRefs/>
</ds:datastoreItem>
</file>

<file path=customXml/itemProps11.xml><?xml version="1.0" encoding="utf-8"?>
<ds:datastoreItem xmlns:ds="http://schemas.openxmlformats.org/officeDocument/2006/customXml" ds:itemID="{2F1260EE-F954-4CA5-BFEE-FFC96B9555B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1407</TotalTime>
  <Words>3629</Words>
  <Application>Microsoft Office PowerPoint</Application>
  <PresentationFormat>Widescreen</PresentationFormat>
  <Paragraphs>489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Wingdings</vt:lpstr>
      <vt:lpstr>Ferguson Enterprises</vt:lpstr>
      <vt:lpstr>Tech Refresher - JavaScript </vt:lpstr>
      <vt:lpstr>Agenda</vt:lpstr>
      <vt:lpstr>Trainer</vt:lpstr>
      <vt:lpstr>The Basics of JavaScript </vt:lpstr>
      <vt:lpstr>What’s JavaScript???</vt:lpstr>
      <vt:lpstr>PowerPoint Presentation</vt:lpstr>
      <vt:lpstr>Simple JavaScript</vt:lpstr>
      <vt:lpstr>PowerPoint Presentation</vt:lpstr>
      <vt:lpstr>PowerPoint Presentation</vt:lpstr>
      <vt:lpstr>Core Concepts  </vt:lpstr>
      <vt:lpstr>Base </vt:lpstr>
      <vt:lpstr>PowerPoint Presentation</vt:lpstr>
      <vt:lpstr>PowerPoint Presentation</vt:lpstr>
      <vt:lpstr>PowerPoint Presentation</vt:lpstr>
      <vt:lpstr>PowerPoint Presentation</vt:lpstr>
      <vt:lpstr>Fun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Ferguson Contexts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Nrimal</dc:creator>
  <cp:keywords/>
  <dc:description/>
  <cp:lastModifiedBy>Kaushik C</cp:lastModifiedBy>
  <cp:revision>145</cp:revision>
  <dcterms:created xsi:type="dcterms:W3CDTF">2025-12-22T17:52:22Z</dcterms:created>
  <dcterms:modified xsi:type="dcterms:W3CDTF">2026-09-03T07:03:55Z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0x010100ABEE18108F71CE48B7D341B204F6A9A9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