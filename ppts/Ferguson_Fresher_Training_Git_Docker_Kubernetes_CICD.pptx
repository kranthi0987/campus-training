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4"/>
  </p:sldMasterIdLst>
  <p:notesMasterIdLst>
    <p:notesMasterId r:id="rId71"/>
  </p:notesMasterIdLst>
  <p:handoutMasterIdLst>
    <p:handoutMasterId r:id="rId72"/>
  </p:handoutMasterIdLst>
  <p:sldIdLst>
    <p:sldId id="256" r:id="rId15"/>
    <p:sldId id="258" r:id="rId16"/>
    <p:sldId id="2147482451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2" r:id="rId68"/>
    <p:sldId id="313" r:id="rId69"/>
    <p:sldId id="314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2.xml"/><Relationship Id="rId21" Type="http://schemas.openxmlformats.org/officeDocument/2006/relationships/slide" Target="slides/slide7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63" Type="http://schemas.openxmlformats.org/officeDocument/2006/relationships/slide" Target="slides/slide49.xml"/><Relationship Id="rId68" Type="http://schemas.openxmlformats.org/officeDocument/2006/relationships/slide" Target="slides/slide54.xml"/><Relationship Id="rId16" Type="http://schemas.openxmlformats.org/officeDocument/2006/relationships/slide" Target="slides/slide2.xml"/><Relationship Id="rId11" Type="http://schemas.openxmlformats.org/officeDocument/2006/relationships/customXml" Target="../customXml/item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slide" Target="slides/slide39.xml"/><Relationship Id="rId58" Type="http://schemas.openxmlformats.org/officeDocument/2006/relationships/slide" Target="slides/slide44.xml"/><Relationship Id="rId66" Type="http://schemas.openxmlformats.org/officeDocument/2006/relationships/slide" Target="slides/slide52.xml"/><Relationship Id="rId74" Type="http://schemas.openxmlformats.org/officeDocument/2006/relationships/viewProps" Target="viewProps.xml"/><Relationship Id="rId5" Type="http://schemas.openxmlformats.org/officeDocument/2006/relationships/customXml" Target="../customXml/item5.xml"/><Relationship Id="rId61" Type="http://schemas.openxmlformats.org/officeDocument/2006/relationships/slide" Target="slides/slide47.xml"/><Relationship Id="rId19" Type="http://schemas.openxmlformats.org/officeDocument/2006/relationships/slide" Target="slides/slide5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openxmlformats.org/officeDocument/2006/relationships/slide" Target="slides/slide42.xml"/><Relationship Id="rId64" Type="http://schemas.openxmlformats.org/officeDocument/2006/relationships/slide" Target="slides/slide50.xml"/><Relationship Id="rId69" Type="http://schemas.openxmlformats.org/officeDocument/2006/relationships/slide" Target="slides/slide55.xml"/><Relationship Id="rId77" Type="http://schemas.microsoft.com/office/2016/11/relationships/changesInfo" Target="changesInfos/changesInfo1.xml"/><Relationship Id="rId8" Type="http://schemas.openxmlformats.org/officeDocument/2006/relationships/customXml" Target="../customXml/item8.xml"/><Relationship Id="rId51" Type="http://schemas.openxmlformats.org/officeDocument/2006/relationships/slide" Target="slides/slide37.xml"/><Relationship Id="rId72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59" Type="http://schemas.openxmlformats.org/officeDocument/2006/relationships/slide" Target="slides/slide45.xml"/><Relationship Id="rId67" Type="http://schemas.openxmlformats.org/officeDocument/2006/relationships/slide" Target="slides/slide53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slide" Target="slides/slide40.xml"/><Relationship Id="rId62" Type="http://schemas.openxmlformats.org/officeDocument/2006/relationships/slide" Target="slides/slide48.xml"/><Relationship Id="rId70" Type="http://schemas.openxmlformats.org/officeDocument/2006/relationships/slide" Target="slides/slide5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openxmlformats.org/officeDocument/2006/relationships/slide" Target="slides/slide43.xml"/><Relationship Id="rId10" Type="http://schemas.openxmlformats.org/officeDocument/2006/relationships/customXml" Target="../customXml/item10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slide" Target="slides/slide38.xml"/><Relationship Id="rId60" Type="http://schemas.openxmlformats.org/officeDocument/2006/relationships/slide" Target="slides/slide46.xml"/><Relationship Id="rId65" Type="http://schemas.openxmlformats.org/officeDocument/2006/relationships/slide" Target="slides/slide51.xml"/><Relationship Id="rId73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39" Type="http://schemas.openxmlformats.org/officeDocument/2006/relationships/slide" Target="slides/slide25.xml"/><Relationship Id="rId34" Type="http://schemas.openxmlformats.org/officeDocument/2006/relationships/slide" Target="slides/slide20.xml"/><Relationship Id="rId50" Type="http://schemas.openxmlformats.org/officeDocument/2006/relationships/slide" Target="slides/slide36.xml"/><Relationship Id="rId55" Type="http://schemas.openxmlformats.org/officeDocument/2006/relationships/slide" Target="slides/slide41.xml"/><Relationship Id="rId76" Type="http://schemas.openxmlformats.org/officeDocument/2006/relationships/tableStyles" Target="tableStyles.xml"/><Relationship Id="rId7" Type="http://schemas.openxmlformats.org/officeDocument/2006/relationships/customXml" Target="../customXml/item7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J" userId="b7ace5f2-e186-4f88-8cb8-0786fee668d3" providerId="ADAL" clId="{1D96413A-4AED-4202-908F-9A41C5DDF3C9}"/>
    <pc:docChg chg="modSld">
      <pc:chgData name="Mahesh J" userId="b7ace5f2-e186-4f88-8cb8-0786fee668d3" providerId="ADAL" clId="{1D96413A-4AED-4202-908F-9A41C5DDF3C9}" dt="2026-09-01T11:47:56.038" v="1" actId="1076"/>
      <pc:docMkLst>
        <pc:docMk/>
      </pc:docMkLst>
      <pc:sldChg chg="modSp mod">
        <pc:chgData name="Mahesh J" userId="b7ace5f2-e186-4f88-8cb8-0786fee668d3" providerId="ADAL" clId="{1D96413A-4AED-4202-908F-9A41C5DDF3C9}" dt="2026-09-01T11:47:56.038" v="1" actId="1076"/>
        <pc:sldMkLst>
          <pc:docMk/>
          <pc:sldMk cId="0" sldId="256"/>
        </pc:sldMkLst>
        <pc:spChg chg="mod">
          <ac:chgData name="Mahesh J" userId="b7ace5f2-e186-4f88-8cb8-0786fee668d3" providerId="ADAL" clId="{1D96413A-4AED-4202-908F-9A41C5DDF3C9}" dt="2026-09-01T11:47:56.038" v="1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Saurav Sanyal" userId="S::saurav.sanyal@ferguson.com::d0fe4051-e01c-43a6-8238-cd2fd015270f" providerId="AD" clId="Web-{E110700D-5BAC-6CC5-E832-8E52326D3A10}"/>
    <pc:docChg chg="sldOrd">
      <pc:chgData name="Saurav Sanyal" userId="S::saurav.sanyal@ferguson.com::d0fe4051-e01c-43a6-8238-cd2fd015270f" providerId="AD" clId="Web-{E110700D-5BAC-6CC5-E832-8E52326D3A10}" dt="2026-08-20T07:23:38.534" v="1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51DD8-B00C-4794-9F38-603E28FD22A0}" type="datetime1">
              <a:rPr lang="en-GB" sz="800" smtClean="0">
                <a:solidFill>
                  <a:schemeClr val="accent1"/>
                </a:solidFill>
              </a:rPr>
              <a:t>01/09/2026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800" smtClean="0">
                <a:solidFill>
                  <a:schemeClr val="accent1"/>
                </a:solidFill>
              </a:rPr>
              <a:t>‹#›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3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340F0538-9B96-48A2-E0D3-51997329E811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A287E5-3103-5FAA-E5AA-89A61923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76796D24-E52C-91B9-433F-A5D1C511A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2743200" cy="33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38800"/>
            <a:ext cx="7002000" cy="1286506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914400" y="4219200"/>
            <a:ext cx="509040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add subtitle, one line 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651BDEF-5BAF-5895-1B1A-7FAE88270E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</a:t>
            </a:r>
            <a:r>
              <a:rPr lang="en-US" err="1"/>
              <a:t>Templafy</a:t>
            </a:r>
            <a:r>
              <a:rPr lang="en-US"/>
              <a:t>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Logo Placeholder 9">
            <a:extLst>
              <a:ext uri="{FF2B5EF4-FFF2-40B4-BE49-F238E27FC236}">
                <a16:creationId xmlns:a16="http://schemas.microsoft.com/office/drawing/2014/main" id="{D8410491-ACC1-B4F0-BB4F-E3E58AF6E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9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F24335D-38B7-3BBC-A3D8-1B37E89BAC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 Placeholder 9">
            <a:extLst>
              <a:ext uri="{FF2B5EF4-FFF2-40B4-BE49-F238E27FC236}">
                <a16:creationId xmlns:a16="http://schemas.microsoft.com/office/drawing/2014/main" id="{6321382D-5A07-31AA-0933-D4F46703D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B3C6D49B-5AA8-08F3-B147-E15E36F776DB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ABFFD0-7FB5-22D4-AEE3-9130103DE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914400"/>
            <a:ext cx="7956000" cy="49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41371CC-D25B-51AE-5ABB-421D01359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11199" y="1836000"/>
            <a:ext cx="7458163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6pPr>
            <a:lvl7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7pPr>
            <a:lvl8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8pPr>
            <a:lvl9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add agenda point                                                        Enter &amp; TAB to view highlight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96624D-FA1A-B68E-7DBE-8CCBAFF24F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1836000"/>
            <a:ext cx="396000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3pPr>
            <a:lvl4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4pPr>
            <a:lvl5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6pPr>
            <a:lvl7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7pPr>
            <a:lvl8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accent3"/>
                </a:solidFill>
              </a:defRPr>
            </a:lvl8pPr>
            <a:lvl9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01</a:t>
            </a:r>
          </a:p>
          <a:p>
            <a:pPr lvl="1"/>
            <a:r>
              <a:rPr lang="en-US"/>
              <a:t>02</a:t>
            </a:r>
          </a:p>
          <a:p>
            <a:pPr lvl="2"/>
            <a:r>
              <a:rPr lang="en-US"/>
              <a:t>03</a:t>
            </a:r>
          </a:p>
          <a:p>
            <a:pPr lvl="3"/>
            <a:r>
              <a:rPr lang="en-US"/>
              <a:t>04</a:t>
            </a:r>
          </a:p>
          <a:p>
            <a:pPr lvl="4"/>
            <a:r>
              <a:rPr lang="en-US"/>
              <a:t>05</a:t>
            </a:r>
          </a:p>
          <a:p>
            <a:pPr lvl="5"/>
            <a:r>
              <a:rPr lang="en-US"/>
              <a:t>06</a:t>
            </a:r>
          </a:p>
          <a:p>
            <a:pPr lvl="6"/>
            <a:r>
              <a:rPr lang="en-US"/>
              <a:t>07</a:t>
            </a:r>
          </a:p>
          <a:p>
            <a:pPr lvl="7"/>
            <a:r>
              <a:rPr lang="en-US"/>
              <a:t>08</a:t>
            </a:r>
          </a:p>
          <a:p>
            <a:pPr lvl="8"/>
            <a:r>
              <a:rPr lang="en-US"/>
              <a:t>09</a:t>
            </a:r>
          </a:p>
        </p:txBody>
      </p:sp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6337724D-6107-D752-5174-474B0390C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3DC341-C334-5512-74C4-08B4FC8DAC6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DE2604-0312-B234-C47D-460B0F77B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D4D25F-806C-BD90-FA02-0B54023D53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9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6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11277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Note 1 Sub 1">
            <a:extLst>
              <a:ext uri="{FF2B5EF4-FFF2-40B4-BE49-F238E27FC236}">
                <a16:creationId xmlns:a16="http://schemas.microsoft.com/office/drawing/2014/main" id="{38E65F5C-54FD-FBF2-4466-8B2C452C0C4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5548312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Note 1 Sub 1">
            <a:extLst>
              <a:ext uri="{FF2B5EF4-FFF2-40B4-BE49-F238E27FC236}">
                <a16:creationId xmlns:a16="http://schemas.microsoft.com/office/drawing/2014/main" id="{E61B1661-5972-8C49-8794-8B443A054B88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0" y="5763600"/>
            <a:ext cx="5548312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Note 2 23">
            <a:extLst>
              <a:ext uri="{FF2B5EF4-FFF2-40B4-BE49-F238E27FC236}">
                <a16:creationId xmlns:a16="http://schemas.microsoft.com/office/drawing/2014/main" id="{00181299-DF32-7C45-A085-197D1BDFB5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4592637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4" name="Note 1 Sub 1">
            <a:extLst>
              <a:ext uri="{FF2B5EF4-FFF2-40B4-BE49-F238E27FC236}">
                <a16:creationId xmlns:a16="http://schemas.microsoft.com/office/drawing/2014/main" id="{BEEEF4B7-428C-9762-96F2-F9AB99E081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4592637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Note 2 23">
            <a:extLst>
              <a:ext uri="{FF2B5EF4-FFF2-40B4-BE49-F238E27FC236}">
                <a16:creationId xmlns:a16="http://schemas.microsoft.com/office/drawing/2014/main" id="{EDAA4865-C74E-7685-66E0-F060C7A99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8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9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1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3639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4" name="Note 2 23">
            <a:extLst>
              <a:ext uri="{FF2B5EF4-FFF2-40B4-BE49-F238E27FC236}">
                <a16:creationId xmlns:a16="http://schemas.microsoft.com/office/drawing/2014/main" id="{68A05EFF-09AD-2BDE-63D2-FB5D533CF8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4664" y="5763600"/>
            <a:ext cx="3639600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674E71-B0C4-FEC5-FD69-32E7BBAEF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6009F8-89A8-30D5-6C9C-F7B53B666E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493320-A1EB-762E-F669-F1D7CAA4A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5675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2BD066-A79A-F43D-D356-7343A2D40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3614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D8AEAC-6B00-82AA-21E5-203CEA43691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6D243-0CFA-03C5-E855-8D687A3E94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A359F9-23D1-0B3C-C313-465E6E5C13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600" y="0"/>
            <a:ext cx="6098400" cy="6858000"/>
          </a:xfrm>
          <a:solidFill>
            <a:schemeClr val="tx1"/>
          </a:solidFill>
        </p:spPr>
        <p:txBody>
          <a:bodyPr tIns="108000" anchor="t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on frame and insert picture via </a:t>
            </a:r>
            <a:r>
              <a:rPr lang="en-US" noProof="0" err="1"/>
              <a:t>Templafy</a:t>
            </a:r>
            <a:r>
              <a:rPr lang="en-US" noProof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E9B-B320-E47B-3176-A493B0DC8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457200"/>
            <a:ext cx="5158800" cy="16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three lines optional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539132-A20E-07F0-8181-75BDE4793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1" y="2743200"/>
            <a:ext cx="51588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0" name="Note 1 Sub 1">
            <a:extLst>
              <a:ext uri="{FF2B5EF4-FFF2-40B4-BE49-F238E27FC236}">
                <a16:creationId xmlns:a16="http://schemas.microsoft.com/office/drawing/2014/main" id="{0C6B742A-91F9-666A-BF0F-8F57EAC178C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white">
          <a:xfrm>
            <a:off x="457200" y="5763600"/>
            <a:ext cx="515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A672A77-3A7D-E59F-FF4E-BE18A5E105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5345F-79A0-C72D-C867-4CB73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A7736-C906-07C5-0D5A-3DEDC5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1836B27C-B32A-1D89-C444-C52A127915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941FA-9D05-0D95-0EA0-CC5F7CE3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D0358-17F7-DF33-FD3A-550D27E8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F762D97-CF6A-B2DB-1D74-D6EE28701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CA731-A8F5-9D6D-8035-9447D93D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F029-4DD6-D941-BBCC-3AB2084844EF}" type="datetimeFigureOut">
              <a:rPr lang="en-US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0445F-105D-FC9D-2F49-01244898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33EF-A1D1-8B89-A354-C7E0EB0B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0581-F331-824A-B07B-43DA2241CC0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page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CE496233-C250-B88A-B964-7BF48F24B4E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40F7F431-C69E-3D80-0906-67F262A4E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1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A7FF08-497F-4E40-AED3-0532762F5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5548314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5A8F3-C789-43A7-B9C7-C2E8AD06CA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0504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" name="Note 1 Sub 1">
            <a:extLst>
              <a:ext uri="{FF2B5EF4-FFF2-40B4-BE49-F238E27FC236}">
                <a16:creationId xmlns:a16="http://schemas.microsoft.com/office/drawing/2014/main" id="{3B607106-140F-3336-3175-16463A0591A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Date Placeholder 11" hidden="1">
            <a:extLst>
              <a:ext uri="{FF2B5EF4-FFF2-40B4-BE49-F238E27FC236}">
                <a16:creationId xmlns:a16="http://schemas.microsoft.com/office/drawing/2014/main" id="{89B46E72-3A7F-5AA5-7986-0B5D443D5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D69141-87D9-4AAE-F9E7-65AF613F20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1ADA0BC-BBD9-2A8F-7617-20AC5215B2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F327-8516-9B76-E6C5-A70D73B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5E11-AC2D-CE0C-6212-92DB0611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0A03-A7F5-27B6-9E8F-8D97DFC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02F5E-8C20-931B-A57D-06A68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noFill/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light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2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15" y="2743200"/>
            <a:ext cx="2684948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7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6BED3-B0E8-BAB1-BE3F-D3833F541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106180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4164B-E3B7-2647-6166-D697CDEB6A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935E5A5E-EEC0-2CD1-F188-857C1C79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Enter &amp; TAB to view next text style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33548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618376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Enter &amp; TAB to view next text style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Enter &amp; TAB to view next text style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 bwMode="white"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7D7D3-77A7-E31E-5620-9C33844D5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81941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dark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1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94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Enter &amp; TAB to view next text style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Enter &amp; TAB to view next text style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D4E1EE-1242-874C-66B7-8C1E73BAF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60375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00A8D39C-F9B4-BF5F-FA96-4FE6B9BA84A9}"/>
              </a:ext>
            </a:extLst>
          </p:cNvPr>
          <p:cNvSpPr/>
          <p:nvPr userDrawn="1"/>
        </p:nvSpPr>
        <p:spPr>
          <a:xfrm>
            <a:off x="0" y="0"/>
            <a:ext cx="121920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CEDE22F-63BC-0AD4-6E95-B84229CFC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E48B-B220-3C21-F7F8-3DBB4D33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1720800"/>
            <a:ext cx="7002000" cy="1929600"/>
          </a:xfrm>
        </p:spPr>
        <p:txBody>
          <a:bodyPr anchor="b" anchorCtr="0"/>
          <a:lstStyle>
            <a:lvl1pPr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46F7B-BA1D-CEBB-3CEC-E0D54E6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2C7110B-C33C-F958-2789-F75D5065A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B4FDD3-0F0D-AB5B-7496-471F8B41A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DC7421-D19E-8E3B-4AB9-DB3C537AF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529327" cy="4572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1F31B9-278B-412D-32D9-19F1605D31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3949200"/>
            <a:ext cx="7002000" cy="332399"/>
          </a:xfrm>
        </p:spPr>
        <p:txBody>
          <a:bodyPr>
            <a:spAutoFit/>
          </a:bodyPr>
          <a:lstStyle>
            <a:lvl1pPr marL="324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2pPr>
            <a:lvl3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3pPr>
            <a:lvl4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4pPr>
            <a:lvl5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5pPr>
            <a:lvl6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6pPr>
            <a:lvl7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7pPr>
            <a:lvl8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8pPr>
            <a:lvl9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 source reference</a:t>
            </a:r>
          </a:p>
        </p:txBody>
      </p:sp>
    </p:spTree>
    <p:extLst>
      <p:ext uri="{BB962C8B-B14F-4D97-AF65-F5344CB8AC3E}">
        <p14:creationId xmlns:p14="http://schemas.microsoft.com/office/powerpoint/2010/main" val="110346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914400"/>
            <a:ext cx="5090400" cy="789447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654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CFB08-1F95-881D-F816-C86A590EE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40968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phone number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1F9A57-5B2A-8DD5-9ABF-4514F0C735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14400" y="4525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e-mail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20DEF4-2DF2-C891-22D0-C0202100A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4400" y="4957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WEB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9B4B28-D096-0D8A-10F6-02BF64665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14400" y="53856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address</a:t>
            </a:r>
          </a:p>
        </p:txBody>
      </p:sp>
    </p:spTree>
    <p:extLst>
      <p:ext uri="{BB962C8B-B14F-4D97-AF65-F5344CB8AC3E}">
        <p14:creationId xmlns:p14="http://schemas.microsoft.com/office/powerpoint/2010/main" val="688408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83325" y="1493850"/>
            <a:ext cx="2857250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2225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3987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02167" y="1493850"/>
            <a:ext cx="2856345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buttons in the Templafy pane on the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55613" y="463861"/>
            <a:ext cx="11277600" cy="494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56668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AB74252-A308-4DBB-A9A9-CA2BB4B51A09}" type="datetime1">
              <a:rPr lang="en-US" smtClean="0"/>
              <a:t>9/1/2026</a:t>
            </a:fld>
            <a:endParaRPr lang="en-US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134516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52" y="1493850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81118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81118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83816" y="568977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1118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086364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87108" y="5476821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1118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B47CC09-D412-46CC-B4F3-6A86C85F5C46}" type="datetime1">
              <a:rPr lang="en-US" smtClean="0"/>
              <a:t>9/1/2026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71600"/>
            <a:ext cx="11277600" cy="43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 (Enter &amp; TAB to view next text style, SHIFT+TAB to view previous text style)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4, Header</a:t>
            </a:r>
          </a:p>
          <a:p>
            <a:pPr lvl="4"/>
            <a:r>
              <a:rPr lang="en-US" noProof="0"/>
              <a:t>Level 5, Body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7, Small Header</a:t>
            </a:r>
          </a:p>
          <a:p>
            <a:pPr lvl="7"/>
            <a:r>
              <a:rPr lang="en-US" noProof="0"/>
              <a:t>Level 8, Small Body</a:t>
            </a:r>
          </a:p>
          <a:p>
            <a:pPr lvl="8"/>
            <a:r>
              <a:rPr lang="en-US" noProof="0"/>
              <a:t>Level 9, Infographic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noFill/>
              </a:defRPr>
            </a:lvl1pPr>
          </a:lstStyle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1" name="Grid" hidden="1">
            <a:extLst>
              <a:ext uri="{FF2B5EF4-FFF2-40B4-BE49-F238E27FC236}">
                <a16:creationId xmlns:a16="http://schemas.microsoft.com/office/drawing/2014/main" id="{3E9C1BF4-18A1-7A48-550F-37D0F8D2F27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57199" y="457200"/>
            <a:ext cx="11277599" cy="5943600"/>
            <a:chOff x="457199" y="457200"/>
            <a:chExt cx="11277599" cy="5943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418678-FD7F-814C-A0B7-ED5758643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2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4555C3-3F4D-87D5-E922-8B350C7FD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457199" y="457200"/>
              <a:ext cx="11277599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B548E8-35D0-6F71-801A-2FF7E309BE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86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FA8BF-27CD-55AE-9D76-0FCF533D3A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141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5B43D8-035E-E1B5-5A6C-85EE3476A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96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4053FB-DEA3-7227-C4EA-69E6C5675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051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441BB4-04CD-791B-8A1A-0F5FD09DD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06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77EC9A-AC61-B401-4184-3D2B84FB1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960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B7655-6675-3943-E913-D659C2DA4B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915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781662-9A76-A8A4-F4C3-D8F0A583C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70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CC8D-5899-F9BE-67D0-BE8698662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825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F98C2D-FD89-25EA-A132-F3014D6B6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780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</p:grpSp>
      <p:pic>
        <p:nvPicPr>
          <p:cNvPr id="34" name="Logo">
            <a:extLst>
              <a:ext uri="{FF2B5EF4-FFF2-40B4-BE49-F238E27FC236}">
                <a16:creationId xmlns:a16="http://schemas.microsoft.com/office/drawing/2014/main" id="{659CF7DA-83FD-55B4-BD19-ECAAB62AC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5" r:id="rId2"/>
    <p:sldLayoutId id="2147483813" r:id="rId3"/>
    <p:sldLayoutId id="2147483737" r:id="rId4"/>
    <p:sldLayoutId id="2147483731" r:id="rId5"/>
    <p:sldLayoutId id="2147483798" r:id="rId6"/>
    <p:sldLayoutId id="2147483799" r:id="rId7"/>
    <p:sldLayoutId id="2147483732" r:id="rId8"/>
    <p:sldLayoutId id="2147483755" r:id="rId9"/>
    <p:sldLayoutId id="2147483800" r:id="rId10"/>
    <p:sldLayoutId id="2147483803" r:id="rId11"/>
    <p:sldLayoutId id="2147483815" r:id="rId12"/>
    <p:sldLayoutId id="2147483772" r:id="rId13"/>
    <p:sldLayoutId id="2147483801" r:id="rId14"/>
    <p:sldLayoutId id="2147483804" r:id="rId15"/>
    <p:sldLayoutId id="2147483743" r:id="rId16"/>
    <p:sldLayoutId id="2147483814" r:id="rId17"/>
    <p:sldLayoutId id="2147483739" r:id="rId18"/>
    <p:sldLayoutId id="2147483806" r:id="rId19"/>
    <p:sldLayoutId id="2147483805" r:id="rId20"/>
    <p:sldLayoutId id="2147483767" r:id="rId21"/>
    <p:sldLayoutId id="2147483816" r:id="rId22"/>
    <p:sldLayoutId id="2147483807" r:id="rId23"/>
    <p:sldLayoutId id="2147483810" r:id="rId24"/>
    <p:sldLayoutId id="2147483809" r:id="rId25"/>
    <p:sldLayoutId id="2147483811" r:id="rId26"/>
    <p:sldLayoutId id="2147483812" r:id="rId27"/>
    <p:sldLayoutId id="2147483792" r:id="rId28"/>
    <p:sldLayoutId id="2147483751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20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14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sz="12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​"/>
        <a:defRPr sz="5400" b="1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76" userDrawn="1">
          <p15:clr>
            <a:srgbClr val="F26B43"/>
          </p15:clr>
        </p15:guide>
        <p15:guide id="2" pos="889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orient="horz" pos="4032" userDrawn="1">
          <p15:clr>
            <a:srgbClr val="F26B43"/>
          </p15:clr>
        </p15:guide>
        <p15:guide id="5" pos="287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pos="1377" userDrawn="1">
          <p15:clr>
            <a:srgbClr val="F26B43"/>
          </p15:clr>
        </p15:guide>
        <p15:guide id="8" pos="1490" userDrawn="1">
          <p15:clr>
            <a:srgbClr val="F26B43"/>
          </p15:clr>
        </p15:guide>
        <p15:guide id="9" pos="1978" userDrawn="1">
          <p15:clr>
            <a:srgbClr val="F26B43"/>
          </p15:clr>
        </p15:guide>
        <p15:guide id="10" pos="2092" userDrawn="1">
          <p15:clr>
            <a:srgbClr val="F26B43"/>
          </p15:clr>
        </p15:guide>
        <p15:guide id="11" pos="2580" userDrawn="1">
          <p15:clr>
            <a:srgbClr val="F26B43"/>
          </p15:clr>
        </p15:guide>
        <p15:guide id="12" pos="2693" userDrawn="1">
          <p15:clr>
            <a:srgbClr val="F26B43"/>
          </p15:clr>
        </p15:guide>
        <p15:guide id="13" pos="3181" userDrawn="1">
          <p15:clr>
            <a:srgbClr val="F26B43"/>
          </p15:clr>
        </p15:guide>
        <p15:guide id="14" pos="329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86" userDrawn="1">
          <p15:clr>
            <a:srgbClr val="F26B43"/>
          </p15:clr>
        </p15:guide>
        <p15:guide id="20" pos="5099" userDrawn="1">
          <p15:clr>
            <a:srgbClr val="F26B43"/>
          </p15:clr>
        </p15:guide>
        <p15:guide id="21" pos="5587" userDrawn="1">
          <p15:clr>
            <a:srgbClr val="F26B43"/>
          </p15:clr>
        </p15:guide>
        <p15:guide id="22" pos="5701" userDrawn="1">
          <p15:clr>
            <a:srgbClr val="F26B43"/>
          </p15:clr>
        </p15:guide>
        <p15:guide id="23" pos="6189" userDrawn="1">
          <p15:clr>
            <a:srgbClr val="F26B43"/>
          </p15:clr>
        </p15:guide>
        <p15:guide id="24" pos="6302" userDrawn="1">
          <p15:clr>
            <a:srgbClr val="F26B43"/>
          </p15:clr>
        </p15:guide>
        <p15:guide id="25" pos="6790" userDrawn="1">
          <p15:clr>
            <a:srgbClr val="F26B43"/>
          </p15:clr>
        </p15:guide>
        <p15:guide id="26" pos="6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11279"/>
            <a:ext cx="9222828" cy="1286506"/>
          </a:xfrm>
        </p:spPr>
        <p:txBody>
          <a:bodyPr/>
          <a:lstStyle/>
          <a:p>
            <a:r>
              <a:rPr dirty="0">
                <a:latin typeface="Arial"/>
              </a:rPr>
              <a:t>Tech Refresher — Git, Docker, Kubernetes &amp; CI/CD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rial"/>
              </a:rPr>
              <a:t>Fresher Enablement | From source code to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914400" y="5273014"/>
            <a:ext cx="5090400" cy="784830"/>
          </a:xfrm>
        </p:spPr>
        <p:txBody>
          <a:bodyPr/>
          <a:lstStyle/>
          <a:p>
            <a:r>
              <a:rPr lang="en-US" dirty="0"/>
              <a:t>Vishnu Chaturvedi</a:t>
            </a:r>
          </a:p>
          <a:p>
            <a:r>
              <a:rPr lang="en-US" dirty="0"/>
              <a:t>Lead Software Engineer</a:t>
            </a:r>
          </a:p>
          <a:p>
            <a:r>
              <a:rPr lang="en-US" dirty="0"/>
              <a:t>Enterprises solutions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01 — Big Picture: software delivery lifecycle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02 — Git: version control &amp; collaboration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03 — Docker: repeatable application packaging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04 — Kubernetes: orchestration at scale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05 — CI/CD: automate build, test and deployment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06 — Ferguson context, AI leverage, labs &amp; recap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We will learn in the order the tools appear in a real delivery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F6EDCF9-B50C-8541-0C0A-674E70B55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4502771"/>
          </a:xfrm>
        </p:spPr>
        <p:txBody>
          <a:bodyPr/>
          <a:lstStyle/>
          <a:p>
            <a:br>
              <a:rPr lang="en-US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0DF8E7-E6F1-E82D-8D89-38E3F2213860}"/>
              </a:ext>
            </a:extLst>
          </p:cNvPr>
          <p:cNvSpPr txBox="1"/>
          <p:nvPr/>
        </p:nvSpPr>
        <p:spPr>
          <a:xfrm>
            <a:off x="914400" y="365760"/>
            <a:ext cx="533639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32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Trainer – Vishnu Chaturvedi</a:t>
            </a:r>
            <a:endParaRPr lang="en-IN" sz="32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44BFDB-65F1-2C46-89D1-437F49E0F8F5}"/>
              </a:ext>
            </a:extLst>
          </p:cNvPr>
          <p:cNvSpPr txBox="1"/>
          <p:nvPr/>
        </p:nvSpPr>
        <p:spPr>
          <a:xfrm>
            <a:off x="914399" y="1422400"/>
            <a:ext cx="9116292" cy="2239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 Years of Experience in Backend Development.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Currently working as a Lead Engineer – Product Domain at Ferguson.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Joined Ferguson in April 2025, part of TIF-Middleware.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Core Expertise: Java, Spring Boot, MongoDB, Elasticsearch and Backend Systems.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Passionate about technology, problem solving &amp; knowledge sharing.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Hobbies: Chess &amp; exploring new technologies.</a:t>
            </a:r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4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The Big Picture: From Laptop to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CODE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Developer writes code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GIT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Version + collaborate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CI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Build + 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IMAGE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Package artifact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K8S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Deploy + operate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Git stores change history. Docker packages runtime. Kubernetes operates containers. CI/CD automates the journey.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Part 1 — Git: Version Control &amp;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Why Do We Need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Without Git: files like final.java, final_v2.java, final_REAL.java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Multiple developers can overwrite each other’s work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Hard to answer: who changed this, when, and why?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Rollback becomes risky when a release breaks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Git gives history, parallel work, review and recovery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Analogy: Git is a time machine + collaboration ledger for source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Git vs GitHub / GitLab / Bitbucket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Git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Distributed version control system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Runs locally on your machine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Tracks commits, branches and merges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Works even without internet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Remote hosting platform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Stores shared remote repositories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Adds pull requests, permissions, issues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Integrates CI/CD and code review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Team collaboration layer around 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Git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WORKING TREE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Files you edit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09544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1568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STAGING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Selected changes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71031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63056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LOCAL REPO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Committed history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19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4544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REMOTE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Shared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Git: Your First Local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 small change moves from working tree → staging → local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git status</a:t>
            </a:r>
            <a:br/>
            <a:r>
              <a:rPr>
                <a:latin typeface="Arial"/>
              </a:rPr>
              <a:t>git add src/main/java/ProductService.java</a:t>
            </a:r>
            <a:br/>
            <a:r>
              <a:rPr>
                <a:latin typeface="Arial"/>
              </a:rPr>
              <a:t>git commit -m "Add product validation"</a:t>
            </a:r>
            <a:br/>
            <a:r>
              <a:rPr>
                <a:latin typeface="Arial"/>
              </a:rPr>
              <a:t>git log --oneline 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Commit messages should describe the intent of the change, not just “changes done”.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Clone, Pull and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Use the remote repository to synchronize with your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git clone &lt;repository-url&gt;</a:t>
            </a:r>
            <a:br/>
            <a:r>
              <a:rPr>
                <a:latin typeface="Arial"/>
              </a:rPr>
              <a:t>cd product-service</a:t>
            </a:r>
            <a:br/>
            <a:r>
              <a:rPr>
                <a:latin typeface="Arial"/>
              </a:rPr>
              <a:t>git pull origin main</a:t>
            </a:r>
            <a:br/>
            <a:r>
              <a:rPr>
                <a:latin typeface="Arial"/>
              </a:rPr>
              <a:t># make changes + commit</a:t>
            </a:r>
            <a:br/>
            <a:r>
              <a:rPr>
                <a:latin typeface="Arial"/>
              </a:rPr>
              <a:t>git push origin feature/product-validation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Pull before integrating; push your branch so others and CI can see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Branching: Work in Parallel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main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Stable baseline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09544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1568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feature/...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Your isolated work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71031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63056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PR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Review + checks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19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4544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merge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Integrate safely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 branch is a lightweight pointer to commits — not a full copy of the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Branching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Create a branch for one focused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git switch main</a:t>
            </a:r>
            <a:br/>
            <a:r>
              <a:rPr>
                <a:latin typeface="Arial"/>
              </a:rPr>
              <a:t>git pull</a:t>
            </a:r>
            <a:br/>
            <a:r>
              <a:rPr>
                <a:latin typeface="Arial"/>
              </a:rPr>
              <a:t>git switch -c feature/add-vendor-api</a:t>
            </a:r>
            <a:br/>
            <a:r>
              <a:rPr>
                <a:latin typeface="Arial"/>
              </a:rPr>
              <a:t># edit, add, commit</a:t>
            </a:r>
            <a:br/>
            <a:r>
              <a:rPr>
                <a:latin typeface="Arial"/>
              </a:rPr>
              <a:t>git push -u origin feature/add-vendor-api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Keep branches short-lived and focused; smaller pull requests are easier to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Merge vs Rebase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Merge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Combines histories with a merge commit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Preserves branch topology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Safe default for shared branches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Easy to understand for beginners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Rebase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Replays commits on a new base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Creates a linear-looking history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Avoid rebasing public/shared commits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Useful before PR when team convention allows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Merge Conflicts: What Actually Happened?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Git cannot automatically decide between overlapping edits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Conflict markers show “ours” and “theirs”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Developer must understand intent — not blindly choose one side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Resolve file → test → git add → continue commit/rebase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Communicate with the other author when business logic is unclear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Conflict resolution is a collaboration problem first, a Git problem second.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Conflict Resolution Mini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Typical conflict resolution sequence: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git pull origin main</a:t>
            </a:r>
            <a:br/>
            <a:r>
              <a:rPr>
                <a:latin typeface="Arial"/>
              </a:rPr>
              <a:t># CONFLICT in ProductService.java</a:t>
            </a:r>
            <a:br/>
            <a:r>
              <a:rPr>
                <a:latin typeface="Arial"/>
              </a:rPr>
              <a:t># edit the file and remove conflict markers</a:t>
            </a:r>
            <a:br/>
            <a:r>
              <a:rPr>
                <a:latin typeface="Arial"/>
              </a:rPr>
              <a:t>git add ProductService.java</a:t>
            </a:r>
            <a:br/>
            <a:r>
              <a:rPr>
                <a:latin typeface="Arial"/>
              </a:rPr>
              <a:t>git commit</a:t>
            </a:r>
            <a:br/>
            <a:r>
              <a:rPr>
                <a:latin typeface="Arial"/>
              </a:rPr>
              <a:t>git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Always compile/test after resolving conflicts; syntactically resolved does not mean logically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Pull Request: The Team Quality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Explain WHAT changed and WHY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Keep scope small enough to review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Automated checks should pass before merge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Reviewer checks correctness, readability, tests and risk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Address comments with code or clear reasoning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Merge only when branch is current and approved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A PR is not “permission to merge”; it is a structured engineering conversation.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Git Mistakes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Uncommitted change you want to discard → restore carefully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Wrong file staged → unstage without deleting work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Bad local commit → amend or reset depending on whether it was pushed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Bad shared commit → prefer revert to preserve history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Never force-push a shared branch unless team policy explicitly allows it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Rule: before destructive commands, run git status and understand whether work is local or already shared.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Part 2 — Docker: Build Once, Run Consistently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The Problem Docker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“It works on my machine” usually means environments differ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Different JDK/library versions cause surprises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Manual server setup is slow and hard to reproduce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Applications need a predictable runtime package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Docker bundles app + runtime dependencies into an image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Containerization reduces environment drift; it does not remove the need for configuration and observability.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Virtual Machine vs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Virtual Machine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Includes a full guest OS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Heavier startup and disk footprint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Strong isolation boundary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Good for machine-level virtualization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Container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Shares host kernel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Starts quickly and is lightweight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Packages process + filesystem dependencies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Ideal unit for modern application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Docker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Dockerfile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Recipe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docker build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Build process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Image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Immutable package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docker run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Create instance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Container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Running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One image can create many containers. Rebuild the image when application code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Dockerfile — Spring Boot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 Dockerfile describes how to construct the runtime image.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FROM eclipse-temurin:21-jre</a:t>
            </a:r>
            <a:br/>
            <a:r>
              <a:rPr>
                <a:latin typeface="Arial"/>
              </a:rPr>
              <a:t>WORKDIR /app</a:t>
            </a:r>
            <a:br/>
            <a:r>
              <a:rPr>
                <a:latin typeface="Arial"/>
              </a:rPr>
              <a:t>COPY target/product-service.jar app.jar</a:t>
            </a:r>
            <a:br/>
            <a:r>
              <a:rPr>
                <a:latin typeface="Arial"/>
              </a:rPr>
              <a:t>EXPOSE 8080</a:t>
            </a:r>
            <a:br/>
            <a:r>
              <a:rPr>
                <a:latin typeface="Arial"/>
              </a:rPr>
              <a:t>ENTRYPOINT ["java","-jar","app.jar"]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Prefer small, trusted base images and keep the image focused on one application process.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Build and Run an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Build from the Dockerfile, then map a host port to the container.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docker build -t product-service:1.0 .</a:t>
            </a:r>
            <a:br/>
            <a:r>
              <a:rPr>
                <a:latin typeface="Arial"/>
              </a:rPr>
              <a:t>docker images</a:t>
            </a:r>
            <a:br/>
            <a:r>
              <a:rPr>
                <a:latin typeface="Arial"/>
              </a:rPr>
              <a:t>docker run --name product-api -p 8080:8080 product-service:1.0</a:t>
            </a:r>
            <a:br/>
            <a:r>
              <a:rPr>
                <a:latin typeface="Arial"/>
              </a:rPr>
              <a:t>docker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Image is the blueprint; container is a running instance of that blueprint.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Ports, Environment Variables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Container has its own network namespace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-p 8080:8080 maps host port → container port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Runtime configuration should come from environment/config, not image rebuilds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Never bake passwords or tokens into an image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Same image should move across environments with different configuration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Immutable artifact + externalized configuration is a core delivery principle.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Volumes: Data Outlives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Containers are disposable by design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Writing important data only inside a container is risky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Volumes provide persistent storage outside container lifecycle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Databases commonly require persistent volumes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Stateless application containers are simpler to scale and replace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Ask: “If this container disappears right now, what data must survive?”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Docker Debugging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Use these to understand a running or failed container.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docker ps -a</a:t>
            </a:r>
            <a:br/>
            <a:r>
              <a:rPr>
                <a:latin typeface="Arial"/>
              </a:rPr>
              <a:t>docker logs -f product-api</a:t>
            </a:r>
            <a:br/>
            <a:r>
              <a:rPr>
                <a:latin typeface="Arial"/>
              </a:rPr>
              <a:t>docker inspect product-api</a:t>
            </a:r>
            <a:br/>
            <a:r>
              <a:rPr>
                <a:latin typeface="Arial"/>
              </a:rPr>
              <a:t>docker exec -it product-api sh</a:t>
            </a:r>
            <a:br/>
            <a:r>
              <a:rPr>
                <a:latin typeface="Arial"/>
              </a:rPr>
              <a:t>docker stop product-api</a:t>
            </a:r>
            <a:br/>
            <a:r>
              <a:rPr>
                <a:latin typeface="Arial"/>
              </a:rPr>
              <a:t>docker rm product-api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Start with status and logs; inspect runtime configuration before changing code.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Image Registry: Sharing the Artifact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BUILD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product-service:1.0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TAG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registry/app:1.0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PUSH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Upload image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PULL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Cluster downloads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RUN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Container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 registry is to container images what a remote repository is to source code: a shared distribution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Docker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Use explicit image tags; avoid relying on latest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Use .dockerignore to reduce build context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Run as non-root where possible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Do not put secrets in Dockerfile or image layers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Use multi-stage builds when compilation tools are not needed at runtime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Scan images and update vulnerable base images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Security and repeatability start during image construction, not after deployment.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/>
              </a:rPr>
              <a:t>Lab — Containerize a Spring Boot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Package the sample app into a JAR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Write a Dockerfile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Build product-service:1.0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Run on localhost:8080 and call /health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Change the app, rebuild as 1.1 and compare image IDs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Stop/remove the container and prove the image still exists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Bonus: pass an environment variable and print it from the application.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Part 3 — Kubernetes: Operate Containers at Scale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Why Kubernetes?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Docker can run a container — but production has many containers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What restarts a crashed application?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How do we run 3 or 30 replicas?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How does traffic find healthy instances?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How do we roll out a new version safely?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Kubernetes automates scheduling, healing, scaling and rollout mechanics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Kubernetes is an orchestration platform, not a replacement for Docker images.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Kubernetes Cluster: High-Level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CONTROL PLANE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Desired state + scheduling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NODE A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Pods run here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NODE B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Pods run here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SERVICE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Stable access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USERS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Send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You declare desired state. Kubernetes continuously tries to make actual state match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Pod: Smallest Deployable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 Pod contains one or more tightly coupled containers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Containers in a Pod share network identity and volumes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Pods are ephemeral: their names/IPs can change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Normally you do not manually create production Pods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Deployments manage Pods for stateless applications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Think “replaceable instance”, not “pet server”.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Deployment: Desired State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Defines container image and number of replicas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Creates and manages ReplicaSets and Pods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Replaces failed Pods automatically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Supports rolling updates and rollback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Changing the image tag triggers a new rollout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Deployment says what you want; controllers keep reconciling toward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Self-Healing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DESIRED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3 replicas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FAILURE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1 Pod crashes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OBSERVE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Only 2 healthy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RECONCILE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Create replacement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RESTORED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3 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The platform does not “repair” the crashed Pod; it usually replaces it with a new one.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Service: Stable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Pod IPs are temporary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 Service provides a stable virtual endpoint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Labels/selectors connect Services to Pods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Traffic can be load-balanced across healthy endpoints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Common types: ClusterIP, NodePort, LoadBalancer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Clients should depend on stable service discovery, not individual Pod IP addresses.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ConfigMap vs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ConfigMap: non-sensitive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Secret: sensitive values such as credentials/tokens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Both can be exposed as environment variables or mounted files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Do not commit real secrets into Git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Changing configuration may require workload restart depending on how app reads it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“Secret” is an API object type — proper encryption/access controls still matter.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Requests, Limits &amp; Why They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CPU/memory requests help the scheduler place Pods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Limits cap resource usage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Too-low memory limit can cause OOMKilled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No requests can lead to noisy-neighbor behavior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Observe real usage before tuning production values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Resource settings are capacity-planning inputs, not arbitrary numbers.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Readiness vs Liveness Probes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Readiness: can this Pod receive traffic now?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Liveness: is this process stuck and should it restart?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Startup probes protect slow-starting applications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Bad probe settings can create restart loops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Health endpoint must represent meaningful application health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A running process is not automatically a ready application.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kubectl — First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Use kubectl to inspect cluster resources and troubleshoot.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kubectl get pods</a:t>
            </a:r>
            <a:br/>
            <a:r>
              <a:rPr>
                <a:latin typeface="Arial"/>
              </a:rPr>
              <a:t>kubectl get deployments</a:t>
            </a:r>
            <a:br/>
            <a:r>
              <a:rPr>
                <a:latin typeface="Arial"/>
              </a:rPr>
              <a:t>kubectl get svc</a:t>
            </a:r>
            <a:br/>
            <a:r>
              <a:rPr>
                <a:latin typeface="Arial"/>
              </a:rPr>
              <a:t>kubectl describe pod &lt;pod-name&gt;</a:t>
            </a:r>
            <a:br/>
            <a:r>
              <a:rPr>
                <a:latin typeface="Arial"/>
              </a:rPr>
              <a:t>kubectl logs &lt;pod-name&gt;</a:t>
            </a:r>
            <a:br/>
            <a:r>
              <a:rPr>
                <a:latin typeface="Arial"/>
              </a:rPr>
              <a:t>kubectl get events --sort-by=.lastTimestamp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Observe first. “Describe + logs + events” is a strong beginner troubleshooting sequence.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 Minimal Deployment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YAML declares desired state; Git can version it like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apiVersion: apps/v1</a:t>
            </a:r>
            <a:br/>
            <a:r>
              <a:rPr>
                <a:latin typeface="Arial"/>
              </a:rPr>
              <a:t>kind: Deployment</a:t>
            </a:r>
            <a:br/>
            <a:r>
              <a:rPr>
                <a:latin typeface="Arial"/>
              </a:rPr>
              <a:t>metadata:</a:t>
            </a:r>
            <a:br/>
            <a:r>
              <a:rPr>
                <a:latin typeface="Arial"/>
              </a:rPr>
              <a:t>  name: product-service</a:t>
            </a:r>
            <a:br/>
            <a:r>
              <a:rPr>
                <a:latin typeface="Arial"/>
              </a:rPr>
              <a:t>spec:</a:t>
            </a:r>
            <a:br/>
            <a:r>
              <a:rPr>
                <a:latin typeface="Arial"/>
              </a:rPr>
              <a:t>  replicas: 2</a:t>
            </a:r>
            <a:br/>
            <a:r>
              <a:rPr>
                <a:latin typeface="Arial"/>
              </a:rPr>
              <a:t>  template:</a:t>
            </a:r>
            <a:br/>
            <a:r>
              <a:rPr>
                <a:latin typeface="Arial"/>
              </a:rPr>
              <a:t>    spec:</a:t>
            </a:r>
            <a:br/>
            <a:r>
              <a:rPr>
                <a:latin typeface="Arial"/>
              </a:rPr>
              <a:t>      containers:</a:t>
            </a:r>
            <a:br/>
            <a:r>
              <a:rPr>
                <a:latin typeface="Arial"/>
              </a:rPr>
              <a:t>      - name: app</a:t>
            </a:r>
            <a:br/>
            <a:r>
              <a:rPr>
                <a:latin typeface="Arial"/>
              </a:rPr>
              <a:t>        image: registry/product-service:1.0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Real manifests also need selectors/labels, probes, resources and configuration.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Rolling Update: Version 1 → Version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v1 v1 v1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Current replicas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09544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1568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v1 v1 v2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Start new Pod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71031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63056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v1 v2 v2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Drain old Pods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19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4544" y="2103120"/>
            <a:ext cx="2596896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v2 v2 v2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Rollout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A rolling strategy replaces instances gradually so the service can remain available during deployment.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Kubernetes Troubleshooting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Pending → scheduling/resources/PVC/constraints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CrashLoopBackOff → application exits repeatedly; inspect logs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ImagePullBackOff → image/tag/registry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Running but not Ready → readiness probe or dependency problem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Service unreachable → labels/selectors/ports/network policy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OOMKilled → inspect memory usage and limits before simply increasing them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4366253-DCA3-321C-2B2B-BBA74B0B688D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/>
              </a:rPr>
              <a:t>Lab — Deploy &amp; Break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Apply a Deployment with 2 replicas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Expose it with a Service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Delete one Pod and watch self-healing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Scale replicas from 2 → 4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Deploy a new image tag and watch rollout status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Intentionally use a bad image tag; diagnose ImagePullBackOff; fix it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3D501AB-10D5-5A97-A463-D87182366759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Part 4 — CI/CD: Automate the Delivery Path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Continuous Integration vs Continuous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Continuous Integration (CI)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Integrate small changes frequently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Compile/build automatically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Run unit/integration tests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Static analysis &amp; security checks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Fail fast before changes travel further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20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Continuous Delivery / Deployment (CD)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Promote a tested artifact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Deploy consistently across environments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Use approvals where required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Verify rollout and health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Rollback/redeploy when needed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Typical Pipeline: Commit to Kubernetes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COMMIT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Push branch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BUILD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Compile + tests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SCAN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Quality/security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IMAGE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Build + push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DEPLOY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Kubernetes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The same immutable image should be promoted rather than rebuilt differently for each environment.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Pipeline Stages — What Can Fail?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Checkout: permissions, wrong ref, unavailable dependency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Build: compilation or dependency resolution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Test: unit/integration regression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Quality/scan: policy or vulnerability threshold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Image push: registry auth/tag conflict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Deploy: invalid manifest, quota, readiness failure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Post-deploy: smoke test or monitoring indicates regression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A good pipeline makes the failure stage obvious and leaves enough logs to diagnose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Jenkins-Style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Illustrative flow — exact syntax varies by organization and shared libraries.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07040" cy="2651760"/>
          </a:xfrm>
          <a:prstGeom prst="roundRect">
            <a:avLst/>
          </a:prstGeom>
          <a:solidFill>
            <a:srgbClr val="F5F7F9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141414"/>
                </a:solidFill>
                <a:latin typeface="Consolas"/>
              </a:defRPr>
            </a:pPr>
            <a:r>
              <a:rPr>
                <a:latin typeface="Arial"/>
              </a:rPr>
              <a:t>stages {</a:t>
            </a:r>
            <a:br/>
            <a:r>
              <a:rPr>
                <a:latin typeface="Arial"/>
              </a:rPr>
              <a:t>  stage("Build &amp; Test") { ... }</a:t>
            </a:r>
            <a:br/>
            <a:r>
              <a:rPr>
                <a:latin typeface="Arial"/>
              </a:rPr>
              <a:t>  stage("Quality Scan") { ... }</a:t>
            </a:r>
            <a:br/>
            <a:r>
              <a:rPr>
                <a:latin typeface="Arial"/>
              </a:rPr>
              <a:t>  stage("Build Image") { ... }</a:t>
            </a:r>
            <a:br/>
            <a:r>
              <a:rPr>
                <a:latin typeface="Arial"/>
              </a:rPr>
              <a:t>  stage("Push Image") { ... }</a:t>
            </a:r>
            <a:br/>
            <a:r>
              <a:rPr>
                <a:latin typeface="Arial"/>
              </a:rPr>
              <a:t>  stage("Deploy") { ... }</a:t>
            </a:r>
            <a:br/>
            <a:r>
              <a:rPr>
                <a:latin typeface="Arial"/>
              </a:rPr>
              <a:t>  stage("Verify") { ... }</a:t>
            </a:r>
            <a:br/>
            <a:r>
              <a:rPr>
                <a:latin typeface="Arial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Key takeaway: Pipeline-as-code makes delivery logic reviewable, versioned and repeatable.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Ferguson Context: How the Pieces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Developer works on a feature branch and raises a PR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Automated checks protect the shared branch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Build produces a versioned application/container artifact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Deployment configuration defines how the workload runs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Kubernetes manages replicas, health and rollout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Logs/metrics/traces help validate behavior after deployment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Exact project pipelines vary; always read the repository and team runbook before making assumptions.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AI Leverage — Use It Without Outsourcing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Ask AI to explain an unfamiliar Git error in plain language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Generate a first Dockerfile/YAML draft — then review every line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Paste sanitized logs and ask for ranked hypotheses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Ask for a troubleshooting checklist before executing commands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Never paste credentials, secrets or restricted company data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Verify commands in docs/team standards before running against shared environments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>
                <a:latin typeface="Arial"/>
              </a:rPr>
              <a:t>Best prompt pattern: context + symptom + expected behavior + constraints + what you already checked.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Part 5 — Building the Puzzle: Capstone &amp; Recap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/>
              </a:rPr>
              <a:t>End-to-End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GIT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Branch + commit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724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4927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CI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Build + test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66436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8460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DOCKER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Build image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562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765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REGISTRY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Push tag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4817" y="2496312"/>
            <a:ext cx="219456" cy="4114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6841" y="2103120"/>
            <a:ext cx="2044598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2A42"/>
                </a:solidFill>
              </a:defRPr>
            </a:pPr>
            <a:r>
              <a:rPr>
                <a:latin typeface="Arial"/>
              </a:rPr>
              <a:t>K8S</a:t>
            </a:r>
          </a:p>
          <a:p>
            <a:pPr algn="ctr">
              <a:defRPr sz="11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Deploy +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rPr>
                <a:latin typeface="Arial"/>
              </a:rPr>
              <a:t>Teams should narrate the journey and identify where they would look when each stage fails.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/>
              </a:rPr>
              <a:t>Final Reca</a:t>
            </a:r>
            <a:r>
              <a:rPr lang="en-US" dirty="0">
                <a:latin typeface="Arial"/>
              </a:rPr>
              <a:t>p</a:t>
            </a:r>
            <a:endParaRPr dirty="0"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Git — tracks and collaborates on source-code changes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Docker — packages an application into a repeatable image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Kubernetes — runs and manages containerized workloads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CI — automatically validates every change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CD — promotes/deploys validated artifacts consistently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Together — faster delivery with repeatability, visibility and safer change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Why is a Git branch cheaper than copying the whole project folder?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Image vs container — what is the difference?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Why should a Service not point to one hard-coded Pod IP?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Readiness vs liveness — what decision does each drive?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Why should we promote the same image across environments?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>
                <a:latin typeface="Arial"/>
              </a:rPr>
              <a:t>What would you inspect first for CrashLoopBackOff?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5CC47BC7-31BE-DCEB-796F-7967A14B874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CE0E5CA1-DABB-8813-B84C-0F2C913DCE0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A79BFB3B-38B1-EB77-4AA3-E744A1EC5E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23AA811B-2EBD-4900-905E-5BE206449611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486E4D71-ACCD-B193-F792-D8D1A2663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090400" cy="789447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AD33A08-C837-B2B5-5E9F-F7C8CA028A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096800"/>
            <a:ext cx="5090400" cy="370800"/>
          </a:xfrm>
        </p:spPr>
        <p:txBody>
          <a:bodyPr/>
          <a:lstStyle/>
          <a:p>
            <a:r>
              <a:rPr lang="en-US"/>
              <a:t>+91-7395902450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A96C16-59BB-4ADC-BB3D-D7929560AEA4}"/>
              </a:ext>
            </a:extLst>
          </p:cNvPr>
          <p:cNvSpPr txBox="1">
            <a:spLocks/>
          </p:cNvSpPr>
          <p:nvPr/>
        </p:nvSpPr>
        <p:spPr bwMode="white">
          <a:xfrm>
            <a:off x="914400" y="4957200"/>
            <a:ext cx="5090400" cy="3708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tabLst/>
              <a:defRPr sz="1200" b="0" i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FERGUSON.COM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801D24A-836F-6F12-E281-9ABF22CC0F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4400" y="4525200"/>
            <a:ext cx="5090400" cy="370800"/>
          </a:xfrm>
        </p:spPr>
        <p:txBody>
          <a:bodyPr/>
          <a:lstStyle/>
          <a:p>
            <a:r>
              <a:rPr lang="en-US" err="1"/>
              <a:t>Vishnu.Chaturvedi</a:t>
            </a:r>
            <a:r>
              <a:rPr lang="en-US"/>
              <a:t>@ferguson.com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guson Enterprises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spcBef>
            <a:spcPts val="600"/>
          </a:spcBef>
          <a:spcAft>
            <a:spcPts val="300"/>
          </a:spcAft>
          <a:defRPr sz="18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spcAft>
            <a:spcPts val="300"/>
          </a:spcAft>
          <a:defRPr sz="1800" dirty="0">
            <a:solidFill>
              <a:srgbClr val="595454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eTemplate 16-9 UK.potx" id="{DA555A82-A902-4BA8-A4E4-A7823948678F}" vid="{0BF9AC09-53C4-40C5-AED0-BEF8E19CEC5F}"/>
    </a:ext>
  </a:extLst>
</a:theme>
</file>

<file path=ppt/theme/theme2.xml><?xml version="1.0" encoding="utf-8"?>
<a:theme xmlns:a="http://schemas.openxmlformats.org/drawingml/2006/main" name="Office-tema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54" row="9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395A683-4272-F04F-936C-BC7D120E070B}">
  <we:reference id="d2164860-9689-45e3-a1e5-90c76032056e" version="1.0.0.7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6B80F0-DC3E-4EF2-B8DD-D690B43CF21E}">
  <we:reference id="d52b89d3-14ec-4607-aed0-cc521be658dc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2.xml><?xml version="1.0" encoding="utf-8"?>
<TemplafySlideTemplateConfiguration><![CDATA[{"slideVersion":1,"isValidatorEnabled":false,"isLocked":false,"elementsMetadata":[],"slideId":"638131098641261312","enableDocumentContentUpdater":false,"version":"2.0"}]]></TemplafySlideTemplateConfiguration>
</file>

<file path=customXml/item3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4.xml><?xml version="1.0" encoding="utf-8"?>
<TemplafyTemplateConfiguration><![CDATA[{"elementsMetadata":[],"transformationConfigurations":[],"templateName":"Ferguson PowerPoint Template","templateDescription":"","enableDocumentContentUpdater":false,"version":"2.0"}]]></TemplafyTemplate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40de5f0-b4d6-4099-8573-9762b281cab6" xsi:nil="true"/>
    <lcf76f155ced4ddcb4097134ff3c332f xmlns="740de5f0-b4d6-4099-8573-9762b281cab6">
      <Terms xmlns="http://schemas.microsoft.com/office/infopath/2007/PartnerControls"/>
    </lcf76f155ced4ddcb4097134ff3c332f>
    <TaxCatchAll xmlns="1e622d7b-320f-4a70-9dfc-b4ea20849cb3" xsi:nil="true"/>
  </documentManagement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E18108F71CE48B7D341B204F6A9A9" ma:contentTypeVersion="15" ma:contentTypeDescription="Create a new document." ma:contentTypeScope="" ma:versionID="d3b702cb611eef79cc687ea277d69898">
  <xsd:schema xmlns:xsd="http://www.w3.org/2001/XMLSchema" xmlns:xs="http://www.w3.org/2001/XMLSchema" xmlns:p="http://schemas.microsoft.com/office/2006/metadata/properties" xmlns:ns2="740de5f0-b4d6-4099-8573-9762b281cab6" xmlns:ns3="1e622d7b-320f-4a70-9dfc-b4ea20849cb3" targetNamespace="http://schemas.microsoft.com/office/2006/metadata/properties" ma:root="true" ma:fieldsID="43aa41909529d9fba556bf474a678137" ns2:_="" ns3:_="">
    <xsd:import namespace="740de5f0-b4d6-4099-8573-9762b281cab6"/>
    <xsd:import namespace="1e622d7b-320f-4a70-9dfc-b4ea20849c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de5f0-b4d6-4099-8573-9762b281ca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b9c5f40-f9d3-4160-ab04-6fd564e931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22d7b-320f-4a70-9dfc-b4ea20849c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ef51d77-27b6-4675-8198-3d9ee98ebca2}" ma:internalName="TaxCatchAll" ma:showField="CatchAllData" ma:web="1e622d7b-320f-4a70-9dfc-b4ea20849c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TemplateConfiguration><![CDATA[{"slideVersion":1,"isValidatorEnabled":false,"isLocked":false,"elementsMetadata":[],"slideId":"638131098641234066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FormConfiguration><![CDATA[{"formFields":[],"formDataEntries":[]}]]></TemplafyFormConfiguration>
</file>

<file path=customXml/itemProps1.xml><?xml version="1.0" encoding="utf-8"?>
<ds:datastoreItem xmlns:ds="http://schemas.openxmlformats.org/officeDocument/2006/customXml" ds:itemID="{E3AA9764-37E3-44C7-8A11-F5F4E9A97C88}">
  <ds:schemaRefs/>
</ds:datastoreItem>
</file>

<file path=customXml/itemProps2.xml><?xml version="1.0" encoding="utf-8"?>
<ds:datastoreItem xmlns:ds="http://schemas.openxmlformats.org/officeDocument/2006/customXml" ds:itemID="{F0567FBA-A811-4FB9-B82B-1C4C88AA0648}">
  <ds:schemaRefs/>
</ds:datastoreItem>
</file>

<file path=customXml/itemProps3.xml><?xml version="1.0" encoding="utf-8"?>
<ds:datastoreItem xmlns:ds="http://schemas.openxmlformats.org/officeDocument/2006/customXml" ds:itemID="{2F1260EE-F954-4CA5-BFEE-FFC96B9555B1}">
  <ds:schemaRefs/>
</ds:datastoreItem>
</file>

<file path=customXml/itemProps4.xml><?xml version="1.0" encoding="utf-8"?>
<ds:datastoreItem xmlns:ds="http://schemas.openxmlformats.org/officeDocument/2006/customXml" ds:itemID="{4B88E25B-4A04-40F4-BB18-E378D867DF0F}">
  <ds:schemaRefs/>
</ds:datastoreItem>
</file>

<file path=customXml/itemProps5.xml><?xml version="1.0" encoding="utf-8"?>
<ds:datastoreItem xmlns:ds="http://schemas.openxmlformats.org/officeDocument/2006/customXml" ds:itemID="{59ABDC19-9982-4205-B071-D93F658E248B}">
  <ds:schemaRefs>
    <ds:schemaRef ds:uri="http://www.w3.org/XML/1998/namespace"/>
    <ds:schemaRef ds:uri="1e622d7b-320f-4a70-9dfc-b4ea20849cb3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740de5f0-b4d6-4099-8573-9762b281cab6"/>
  </ds:schemaRefs>
</ds:datastoreItem>
</file>

<file path=customXml/itemProps6.xml><?xml version="1.0" encoding="utf-8"?>
<ds:datastoreItem xmlns:ds="http://schemas.openxmlformats.org/officeDocument/2006/customXml" ds:itemID="{04353ECB-E6FD-448F-B0D9-C8293AB67A7F}">
  <ds:schemaRefs/>
</ds:datastoreItem>
</file>

<file path=customXml/itemProps7.xml><?xml version="1.0" encoding="utf-8"?>
<ds:datastoreItem xmlns:ds="http://schemas.openxmlformats.org/officeDocument/2006/customXml" ds:itemID="{940519DC-5D64-4578-8DF9-55B311A66AC4}">
  <ds:schemaRefs>
    <ds:schemaRef ds:uri="1e622d7b-320f-4a70-9dfc-b4ea20849cb3"/>
    <ds:schemaRef ds:uri="740de5f0-b4d6-4099-8573-9762b281ca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8.xml><?xml version="1.0" encoding="utf-8"?>
<ds:datastoreItem xmlns:ds="http://schemas.openxmlformats.org/officeDocument/2006/customXml" ds:itemID="{7B17F212-9E42-4B91-8217-5A05A4B4A278}">
  <ds:schemaRefs/>
</ds:datastoreItem>
</file>

<file path=customXml/itemProps9.xml><?xml version="1.0" encoding="utf-8"?>
<ds:datastoreItem xmlns:ds="http://schemas.openxmlformats.org/officeDocument/2006/customXml" ds:itemID="{88CA6FC9-132F-4F54-BDB4-E69AC79ED5FB}">
  <ds:schemaRefs/>
</ds:datastoreItem>
</file>

<file path=customXml/itemProps10.xml><?xml version="1.0" encoding="utf-8"?>
<ds:datastoreItem xmlns:ds="http://schemas.openxmlformats.org/officeDocument/2006/customXml" ds:itemID="{4BA9A057-C5DA-4007-BEE1-BC419C0B74D6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AB5CC942-ED91-435A-93E7-549C0D2838B7}">
  <ds:schemaRefs/>
</ds:datastoreItem>
</file>

<file path=customXml/itemProps12.xml><?xml version="1.0" encoding="utf-8"?>
<ds:datastoreItem xmlns:ds="http://schemas.openxmlformats.org/officeDocument/2006/customXml" ds:itemID="{333CD5A0-665C-4003-AFD0-FF090DCB32E7}">
  <ds:schemaRefs/>
</ds:datastoreItem>
</file>

<file path=customXml/itemProps13.xml><?xml version="1.0" encoding="utf-8"?>
<ds:datastoreItem xmlns:ds="http://schemas.openxmlformats.org/officeDocument/2006/customXml" ds:itemID="{8EB4871E-07B5-4541-BDA0-6B126859C4B6}">
  <ds:schemaRefs/>
</ds:datastoreItem>
</file>

<file path=docMetadata/LabelInfo.xml><?xml version="1.0" encoding="utf-8"?>
<clbl:labelList xmlns:clbl="http://schemas.microsoft.com/office/2020/mipLabelMetadata">
  <clbl:label id="{3c2f8435-994c-4552-8fe8-2aec2d0822e4}" enabled="0" method="" siteId="{3c2f8435-994c-4552-8fe8-2aec2d0822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Ferguson presentation</Template>
  <TotalTime>6</TotalTime>
  <Words>2936</Words>
  <Application>Microsoft Office PowerPoint</Application>
  <PresentationFormat>Widescreen</PresentationFormat>
  <Paragraphs>402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Sans Serif Collection</vt:lpstr>
      <vt:lpstr>Ferguson Enterprises</vt:lpstr>
      <vt:lpstr>Tech Refresher — Git, Docker, Kubernetes &amp; CI/CD</vt:lpstr>
      <vt:lpstr>Agenda</vt:lpstr>
      <vt:lpstr>      </vt:lpstr>
      <vt:lpstr>The Big Picture: From Laptop to Users</vt:lpstr>
      <vt:lpstr>Part 1 — Git: Version Control &amp; Collaboration</vt:lpstr>
      <vt:lpstr>Why Do We Need Version Control?</vt:lpstr>
      <vt:lpstr>Git vs GitHub / GitLab / Bitbucket</vt:lpstr>
      <vt:lpstr>Git Mental Model</vt:lpstr>
      <vt:lpstr>Git: Your First Local Workflow</vt:lpstr>
      <vt:lpstr>Clone, Pull and Push</vt:lpstr>
      <vt:lpstr>Branching: Work in Parallel</vt:lpstr>
      <vt:lpstr>Branching Commands</vt:lpstr>
      <vt:lpstr>Merge vs Rebase</vt:lpstr>
      <vt:lpstr>Merge Conflicts: What Actually Happened?</vt:lpstr>
      <vt:lpstr>Conflict Resolution Mini Demo</vt:lpstr>
      <vt:lpstr>Pull Request: The Team Quality Gate</vt:lpstr>
      <vt:lpstr>Git Mistakes &amp; Recovery</vt:lpstr>
      <vt:lpstr>Part 2 — Docker: Build Once, Run Consistently</vt:lpstr>
      <vt:lpstr>The Problem Docker Solves</vt:lpstr>
      <vt:lpstr>Virtual Machine vs Container</vt:lpstr>
      <vt:lpstr>Docker Mental Model</vt:lpstr>
      <vt:lpstr>Dockerfile — Spring Boot Example</vt:lpstr>
      <vt:lpstr>Build and Run an Image</vt:lpstr>
      <vt:lpstr>Ports, Environment Variables &amp; Configuration</vt:lpstr>
      <vt:lpstr>Volumes: Data Outlives Containers</vt:lpstr>
      <vt:lpstr>Docker Debugging Commands</vt:lpstr>
      <vt:lpstr>Image Registry: Sharing the Artifact</vt:lpstr>
      <vt:lpstr>Docker Best Practices</vt:lpstr>
      <vt:lpstr>Lab — Containerize a Spring Boot App</vt:lpstr>
      <vt:lpstr>Part 3 — Kubernetes: Operate Containers at Scale</vt:lpstr>
      <vt:lpstr>Why Kubernetes?</vt:lpstr>
      <vt:lpstr>Kubernetes Cluster: High-Level View</vt:lpstr>
      <vt:lpstr>Pod: Smallest Deployable Unit</vt:lpstr>
      <vt:lpstr>Deployment: Desired State Controller</vt:lpstr>
      <vt:lpstr>Self-Healing Example</vt:lpstr>
      <vt:lpstr>Service: Stable Networking</vt:lpstr>
      <vt:lpstr>ConfigMap vs Secret</vt:lpstr>
      <vt:lpstr>Requests, Limits &amp; Why They Matter</vt:lpstr>
      <vt:lpstr>Readiness vs Liveness Probes</vt:lpstr>
      <vt:lpstr>kubectl — First Commands</vt:lpstr>
      <vt:lpstr>A Minimal Deployment Manifest</vt:lpstr>
      <vt:lpstr>Rolling Update: Version 1 → Version 2</vt:lpstr>
      <vt:lpstr>Kubernetes Troubleshooting Framework</vt:lpstr>
      <vt:lpstr>Lab — Deploy &amp; Break It</vt:lpstr>
      <vt:lpstr>Part 4 — CI/CD: Automate the Delivery Path</vt:lpstr>
      <vt:lpstr>Continuous Integration vs Continuous Delivery</vt:lpstr>
      <vt:lpstr>Typical Pipeline: Commit to Kubernetes</vt:lpstr>
      <vt:lpstr>Pipeline Stages — What Can Fail?</vt:lpstr>
      <vt:lpstr>Jenkins-Style Pipeline Example</vt:lpstr>
      <vt:lpstr>Ferguson Context: How the Pieces Connect</vt:lpstr>
      <vt:lpstr>AI Leverage — Use It Without Outsourcing Understanding</vt:lpstr>
      <vt:lpstr>Part 5 — Building the Puzzle: Capstone &amp; Recap</vt:lpstr>
      <vt:lpstr>End-to-End Delivery</vt:lpstr>
      <vt:lpstr>Final Recap</vt:lpstr>
      <vt:lpstr>Quick Knowledge Check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Nrimal</dc:creator>
  <cp:keywords/>
  <dc:description/>
  <cp:lastModifiedBy>Mahesh J</cp:lastModifiedBy>
  <cp:revision>7</cp:revision>
  <dcterms:created xsi:type="dcterms:W3CDTF">2025-12-22T17:52:22Z</dcterms:created>
  <dcterms:modified xsi:type="dcterms:W3CDTF">2026-09-01T11:47:56Z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TemplafyTimeStamp">
    <vt:lpwstr>2023-02-27T15:51:04</vt:lpwstr>
  </property>
  <property fmtid="{D5CDD505-2E9C-101B-9397-08002B2CF9AE}" pid="4" name="TemplafyTenantId">
    <vt:lpwstr>ferguson</vt:lpwstr>
  </property>
  <property fmtid="{D5CDD505-2E9C-101B-9397-08002B2CF9AE}" pid="5" name="TemplafyTemplateId">
    <vt:lpwstr>638131098632002359</vt:lpwstr>
  </property>
  <property fmtid="{D5CDD505-2E9C-101B-9397-08002B2CF9AE}" pid="6" name="TemplafyUserProfileId">
    <vt:lpwstr>719579052783960166</vt:lpwstr>
  </property>
  <property fmtid="{D5CDD505-2E9C-101B-9397-08002B2CF9AE}" pid="7" name="TemplafyFromBlank">
    <vt:bool>true</vt:bool>
  </property>
  <property fmtid="{D5CDD505-2E9C-101B-9397-08002B2CF9AE}" pid="8" name="ContentTypeId">
    <vt:lpwstr>0x010100ABEE18108F71CE48B7D341B204F6A9A9</vt:lpwstr>
  </property>
  <property fmtid="{D5CDD505-2E9C-101B-9397-08002B2CF9AE}" pid="9" name="Order">
    <vt:r8>455400</vt:r8>
  </property>
  <property fmtid="{D5CDD505-2E9C-101B-9397-08002B2CF9AE}" pid="10" name="ComplianceAssetId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